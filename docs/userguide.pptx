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6E"/>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563EB"/>
          </a:solidFill>
          <a:ln/>
        </p:spPr>
      </p:sp>
      <p:sp>
        <p:nvSpPr>
          <p:cNvPr id="3" name="Shape 1"/>
          <p:cNvSpPr/>
          <p:nvPr/>
        </p:nvSpPr>
        <p:spPr>
          <a:xfrm>
            <a:off x="6400800" y="-914400"/>
            <a:ext cx="4114800" cy="4114800"/>
          </a:xfrm>
          <a:prstGeom prst="ellipse">
            <a:avLst/>
          </a:prstGeom>
          <a:solidFill>
            <a:srgbClr val="2563EB">
              <a:alpha val="12000"/>
            </a:srgbClr>
          </a:solidFill>
          <a:ln/>
        </p:spPr>
      </p:sp>
      <p:sp>
        <p:nvSpPr>
          <p:cNvPr id="4" name="Shape 2"/>
          <p:cNvSpPr/>
          <p:nvPr/>
        </p:nvSpPr>
        <p:spPr>
          <a:xfrm>
            <a:off x="7315200" y="3200400"/>
            <a:ext cx="2286000" cy="2286000"/>
          </a:xfrm>
          <a:prstGeom prst="ellipse">
            <a:avLst/>
          </a:prstGeom>
          <a:solidFill>
            <a:srgbClr val="60A5FA">
              <a:alpha val="10000"/>
            </a:srgbClr>
          </a:solidFill>
          <a:ln/>
        </p:spPr>
      </p:sp>
      <p:sp>
        <p:nvSpPr>
          <p:cNvPr id="5" name="Text 3"/>
          <p:cNvSpPr/>
          <p:nvPr/>
        </p:nvSpPr>
        <p:spPr>
          <a:xfrm>
            <a:off x="502920" y="731520"/>
            <a:ext cx="8229600" cy="1371600"/>
          </a:xfrm>
          <a:prstGeom prst="rect">
            <a:avLst/>
          </a:prstGeom>
          <a:noFill/>
          <a:ln/>
        </p:spPr>
        <p:txBody>
          <a:bodyPr wrap="square" lIns="0" tIns="0" rIns="0" bIns="0" rtlCol="0" anchor="ctr"/>
          <a:lstStyle/>
          <a:p>
            <a:pPr indent="0" marL="0">
              <a:buNone/>
            </a:pPr>
            <a:r>
              <a:rPr lang="en-US" sz="7200" b="1" spc="400" kern="0" dirty="0">
                <a:solidFill>
                  <a:srgbClr val="FFFFFF"/>
                </a:solidFill>
                <a:latin typeface="Arial Black" pitchFamily="34" charset="0"/>
                <a:ea typeface="Arial Black" pitchFamily="34" charset="-122"/>
                <a:cs typeface="Arial Black" pitchFamily="34" charset="-120"/>
              </a:rPr>
              <a:t>10X RFQ</a:t>
            </a:r>
            <a:endParaRPr lang="en-US" sz="7200" dirty="0"/>
          </a:p>
        </p:txBody>
      </p:sp>
      <p:sp>
        <p:nvSpPr>
          <p:cNvPr id="6" name="Text 4"/>
          <p:cNvSpPr/>
          <p:nvPr/>
        </p:nvSpPr>
        <p:spPr>
          <a:xfrm>
            <a:off x="502920" y="2057400"/>
            <a:ext cx="5486400" cy="731520"/>
          </a:xfrm>
          <a:prstGeom prst="rect">
            <a:avLst/>
          </a:prstGeom>
          <a:noFill/>
          <a:ln/>
        </p:spPr>
        <p:txBody>
          <a:bodyPr wrap="square" lIns="0" tIns="0" rIns="0" bIns="0" rtlCol="0" anchor="ctr"/>
          <a:lstStyle/>
          <a:p>
            <a:pPr indent="0" marL="0">
              <a:buNone/>
            </a:pPr>
            <a:r>
              <a:rPr lang="en-US" sz="3200" dirty="0">
                <a:solidFill>
                  <a:srgbClr val="60A5FA"/>
                </a:solidFill>
                <a:latin typeface="Calibri" pitchFamily="34" charset="0"/>
                <a:ea typeface="Calibri" pitchFamily="34" charset="-122"/>
                <a:cs typeface="Calibri" pitchFamily="34" charset="-120"/>
              </a:rPr>
              <a:t>使い方ガイド</a:t>
            </a:r>
            <a:endParaRPr lang="en-US" sz="3200" dirty="0"/>
          </a:p>
        </p:txBody>
      </p:sp>
      <p:sp>
        <p:nvSpPr>
          <p:cNvPr id="7" name="Shape 5"/>
          <p:cNvSpPr/>
          <p:nvPr/>
        </p:nvSpPr>
        <p:spPr>
          <a:xfrm>
            <a:off x="502920" y="2852928"/>
            <a:ext cx="3200400" cy="36576"/>
          </a:xfrm>
          <a:prstGeom prst="rect">
            <a:avLst/>
          </a:prstGeom>
          <a:solidFill>
            <a:srgbClr val="2563EB"/>
          </a:solidFill>
          <a:ln/>
        </p:spPr>
      </p:sp>
      <p:sp>
        <p:nvSpPr>
          <p:cNvPr id="8" name="Text 6"/>
          <p:cNvSpPr/>
          <p:nvPr/>
        </p:nvSpPr>
        <p:spPr>
          <a:xfrm>
            <a:off x="502920" y="2944368"/>
            <a:ext cx="7315200" cy="438912"/>
          </a:xfrm>
          <a:prstGeom prst="rect">
            <a:avLst/>
          </a:prstGeom>
          <a:noFill/>
          <a:ln/>
        </p:spPr>
        <p:txBody>
          <a:bodyPr wrap="square" lIns="0" tIns="0" rIns="0" bIns="0" rtlCol="0" anchor="ctr"/>
          <a:lstStyle/>
          <a:p>
            <a:pPr indent="0" marL="0">
              <a:buNone/>
            </a:pPr>
            <a:r>
              <a:rPr lang="en-US" sz="1300" i="1" dirty="0">
                <a:solidFill>
                  <a:srgbClr val="8BA3C7"/>
                </a:solidFill>
                <a:latin typeface="Calibri" pitchFamily="34" charset="0"/>
                <a:ea typeface="Calibri" pitchFamily="34" charset="-122"/>
                <a:cs typeface="Calibri" pitchFamily="34" charset="-120"/>
              </a:rPr>
              <a:t>見積管理システム  |  操作マニュアル</a:t>
            </a:r>
            <a:endParaRPr lang="en-US" sz="1300" dirty="0"/>
          </a:p>
        </p:txBody>
      </p:sp>
      <p:sp>
        <p:nvSpPr>
          <p:cNvPr id="9" name="Text 7"/>
          <p:cNvSpPr/>
          <p:nvPr/>
        </p:nvSpPr>
        <p:spPr>
          <a:xfrm>
            <a:off x="502920" y="3493008"/>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ログイン</a:t>
            </a:r>
            <a:endParaRPr lang="en-US" sz="1100" dirty="0"/>
          </a:p>
        </p:txBody>
      </p:sp>
      <p:sp>
        <p:nvSpPr>
          <p:cNvPr id="10" name="Text 8"/>
          <p:cNvSpPr/>
          <p:nvPr/>
        </p:nvSpPr>
        <p:spPr>
          <a:xfrm>
            <a:off x="502920" y="3840480"/>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見積作成</a:t>
            </a:r>
            <a:endParaRPr lang="en-US" sz="1100" dirty="0"/>
          </a:p>
        </p:txBody>
      </p:sp>
      <p:sp>
        <p:nvSpPr>
          <p:cNvPr id="11" name="Text 9"/>
          <p:cNvSpPr/>
          <p:nvPr/>
        </p:nvSpPr>
        <p:spPr>
          <a:xfrm>
            <a:off x="502920" y="4187952"/>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承認フロー</a:t>
            </a:r>
            <a:endParaRPr lang="en-US" sz="1100" dirty="0"/>
          </a:p>
        </p:txBody>
      </p:sp>
      <p:sp>
        <p:nvSpPr>
          <p:cNvPr id="12" name="Text 10"/>
          <p:cNvSpPr/>
          <p:nvPr/>
        </p:nvSpPr>
        <p:spPr>
          <a:xfrm>
            <a:off x="502920" y="4535424"/>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顧客管理</a:t>
            </a:r>
            <a:endParaRPr lang="en-US" sz="1100" dirty="0"/>
          </a:p>
        </p:txBody>
      </p:sp>
      <p:sp>
        <p:nvSpPr>
          <p:cNvPr id="13" name="Text 11"/>
          <p:cNvSpPr/>
          <p:nvPr/>
        </p:nvSpPr>
        <p:spPr>
          <a:xfrm>
            <a:off x="3429000" y="3493008"/>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単価表</a:t>
            </a:r>
            <a:endParaRPr lang="en-US" sz="1100" dirty="0"/>
          </a:p>
        </p:txBody>
      </p:sp>
      <p:sp>
        <p:nvSpPr>
          <p:cNvPr id="14" name="Text 12"/>
          <p:cNvSpPr/>
          <p:nvPr/>
        </p:nvSpPr>
        <p:spPr>
          <a:xfrm>
            <a:off x="3429000" y="3840480"/>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ユーザー管理</a:t>
            </a:r>
            <a:endParaRPr lang="en-US" sz="1100" dirty="0"/>
          </a:p>
        </p:txBody>
      </p:sp>
      <p:sp>
        <p:nvSpPr>
          <p:cNvPr id="15" name="Text 13"/>
          <p:cNvSpPr/>
          <p:nvPr/>
        </p:nvSpPr>
        <p:spPr>
          <a:xfrm>
            <a:off x="3429000" y="4187952"/>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個人設定</a:t>
            </a:r>
            <a:endParaRPr lang="en-US" sz="1100" dirty="0"/>
          </a:p>
        </p:txBody>
      </p:sp>
      <p:sp>
        <p:nvSpPr>
          <p:cNvPr id="16" name="Text 14"/>
          <p:cNvSpPr/>
          <p:nvPr/>
        </p:nvSpPr>
        <p:spPr>
          <a:xfrm>
            <a:off x="3429000" y="4535424"/>
            <a:ext cx="2560320" cy="329184"/>
          </a:xfrm>
          <a:prstGeom prst="rect">
            <a:avLst/>
          </a:prstGeom>
          <a:noFill/>
          <a:ln/>
        </p:spPr>
        <p:txBody>
          <a:bodyPr wrap="square" lIns="0" tIns="0" rIns="0" bIns="0" rtlCol="0" anchor="ctr"/>
          <a:lstStyle/>
          <a:p>
            <a:pPr indent="0" marL="0">
              <a:buNone/>
            </a:pPr>
            <a:r>
              <a:rPr lang="en-US" sz="1100" dirty="0">
                <a:solidFill>
                  <a:srgbClr val="8BA3C7"/>
                </a:solidFill>
                <a:latin typeface="Calibri" pitchFamily="34" charset="0"/>
                <a:ea typeface="Calibri" pitchFamily="34" charset="-122"/>
                <a:cs typeface="Calibri" pitchFamily="34" charset="-120"/>
              </a:rPr>
              <a:t>• 集計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2563EB"/>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01  ログイン方法</a:t>
            </a:r>
            <a:endParaRPr lang="en-US" sz="2000" dirty="0"/>
          </a:p>
        </p:txBody>
      </p:sp>
      <p:sp>
        <p:nvSpPr>
          <p:cNvPr id="5" name="Shape 3"/>
          <p:cNvSpPr/>
          <p:nvPr/>
        </p:nvSpPr>
        <p:spPr>
          <a:xfrm>
            <a:off x="457200" y="841248"/>
            <a:ext cx="4114800" cy="3931920"/>
          </a:xfrm>
          <a:prstGeom prst="rect">
            <a:avLst/>
          </a:prstGeom>
          <a:solidFill>
            <a:srgbClr val="F8FAFC"/>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841248"/>
            <a:ext cx="4114800" cy="548640"/>
          </a:xfrm>
          <a:prstGeom prst="rect">
            <a:avLst/>
          </a:prstGeom>
          <a:solidFill>
            <a:srgbClr val="1E3A6E"/>
          </a:solidFill>
          <a:ln/>
        </p:spPr>
      </p:sp>
      <p:sp>
        <p:nvSpPr>
          <p:cNvPr id="7" name="Text 5"/>
          <p:cNvSpPr/>
          <p:nvPr/>
        </p:nvSpPr>
        <p:spPr>
          <a:xfrm>
            <a:off x="548640" y="886968"/>
            <a:ext cx="3931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10X RFQ</a:t>
            </a:r>
            <a:endParaRPr lang="en-US" sz="1800" dirty="0"/>
          </a:p>
        </p:txBody>
      </p:sp>
      <p:sp>
        <p:nvSpPr>
          <p:cNvPr id="8" name="Text 6"/>
          <p:cNvSpPr/>
          <p:nvPr/>
        </p:nvSpPr>
        <p:spPr>
          <a:xfrm>
            <a:off x="731520" y="1508760"/>
            <a:ext cx="3566160" cy="274320"/>
          </a:xfrm>
          <a:prstGeom prst="rect">
            <a:avLst/>
          </a:prstGeom>
          <a:noFill/>
          <a:ln/>
        </p:spPr>
        <p:txBody>
          <a:bodyPr wrap="square" lIns="0" tIns="0" rIns="0" bIns="0" rtlCol="0" anchor="ctr"/>
          <a:lstStyle/>
          <a:p>
            <a:pPr indent="0" marL="0">
              <a:buNone/>
            </a:pPr>
            <a:r>
              <a:rPr lang="en-US" sz="1000" dirty="0">
                <a:solidFill>
                  <a:srgbClr val="64748B"/>
                </a:solidFill>
              </a:rPr>
              <a:t>メールアドレス</a:t>
            </a:r>
            <a:endParaRPr lang="en-US" sz="1000" dirty="0"/>
          </a:p>
        </p:txBody>
      </p:sp>
      <p:sp>
        <p:nvSpPr>
          <p:cNvPr id="9" name="Shape 7"/>
          <p:cNvSpPr/>
          <p:nvPr/>
        </p:nvSpPr>
        <p:spPr>
          <a:xfrm>
            <a:off x="731520" y="1810512"/>
            <a:ext cx="3566160" cy="384048"/>
          </a:xfrm>
          <a:prstGeom prst="rect">
            <a:avLst/>
          </a:prstGeom>
          <a:solidFill>
            <a:srgbClr val="FFFFFF"/>
          </a:solidFill>
          <a:ln w="12700">
            <a:solidFill>
              <a:srgbClr val="CBD5E1"/>
            </a:solidFill>
            <a:prstDash val="solid"/>
          </a:ln>
        </p:spPr>
      </p:sp>
      <p:sp>
        <p:nvSpPr>
          <p:cNvPr id="10" name="Text 8"/>
          <p:cNvSpPr/>
          <p:nvPr/>
        </p:nvSpPr>
        <p:spPr>
          <a:xfrm>
            <a:off x="822960" y="1847088"/>
            <a:ext cx="3383280" cy="310896"/>
          </a:xfrm>
          <a:prstGeom prst="rect">
            <a:avLst/>
          </a:prstGeom>
          <a:noFill/>
          <a:ln/>
        </p:spPr>
        <p:txBody>
          <a:bodyPr wrap="square" lIns="0" tIns="0" rIns="0" bIns="0" rtlCol="0" anchor="ctr"/>
          <a:lstStyle/>
          <a:p>
            <a:pPr indent="0" marL="0">
              <a:buNone/>
            </a:pPr>
            <a:r>
              <a:rPr lang="en-US" sz="1000" dirty="0">
                <a:solidFill>
                  <a:srgbClr val="94A3B8"/>
                </a:solidFill>
              </a:rPr>
              <a:t>example@company.com</a:t>
            </a:r>
            <a:endParaRPr lang="en-US" sz="1000" dirty="0"/>
          </a:p>
        </p:txBody>
      </p:sp>
      <p:sp>
        <p:nvSpPr>
          <p:cNvPr id="11" name="Text 9"/>
          <p:cNvSpPr/>
          <p:nvPr/>
        </p:nvSpPr>
        <p:spPr>
          <a:xfrm>
            <a:off x="731520" y="2304288"/>
            <a:ext cx="3566160" cy="274320"/>
          </a:xfrm>
          <a:prstGeom prst="rect">
            <a:avLst/>
          </a:prstGeom>
          <a:noFill/>
          <a:ln/>
        </p:spPr>
        <p:txBody>
          <a:bodyPr wrap="square" lIns="0" tIns="0" rIns="0" bIns="0" rtlCol="0" anchor="ctr"/>
          <a:lstStyle/>
          <a:p>
            <a:pPr indent="0" marL="0">
              <a:buNone/>
            </a:pPr>
            <a:r>
              <a:rPr lang="en-US" sz="1000" dirty="0">
                <a:solidFill>
                  <a:srgbClr val="64748B"/>
                </a:solidFill>
              </a:rPr>
              <a:t>パスワード</a:t>
            </a:r>
            <a:endParaRPr lang="en-US" sz="1000" dirty="0"/>
          </a:p>
        </p:txBody>
      </p:sp>
      <p:sp>
        <p:nvSpPr>
          <p:cNvPr id="12" name="Shape 10"/>
          <p:cNvSpPr/>
          <p:nvPr/>
        </p:nvSpPr>
        <p:spPr>
          <a:xfrm>
            <a:off x="731520" y="2596896"/>
            <a:ext cx="3566160" cy="384048"/>
          </a:xfrm>
          <a:prstGeom prst="rect">
            <a:avLst/>
          </a:prstGeom>
          <a:solidFill>
            <a:srgbClr val="FFFFFF"/>
          </a:solidFill>
          <a:ln w="12700">
            <a:solidFill>
              <a:srgbClr val="CBD5E1"/>
            </a:solidFill>
            <a:prstDash val="solid"/>
          </a:ln>
        </p:spPr>
      </p:sp>
      <p:sp>
        <p:nvSpPr>
          <p:cNvPr id="13" name="Text 11"/>
          <p:cNvSpPr/>
          <p:nvPr/>
        </p:nvSpPr>
        <p:spPr>
          <a:xfrm>
            <a:off x="822960" y="2633472"/>
            <a:ext cx="3383280" cy="310896"/>
          </a:xfrm>
          <a:prstGeom prst="rect">
            <a:avLst/>
          </a:prstGeom>
          <a:noFill/>
          <a:ln/>
        </p:spPr>
        <p:txBody>
          <a:bodyPr wrap="square" lIns="0" tIns="0" rIns="0" bIns="0" rtlCol="0" anchor="ctr"/>
          <a:lstStyle/>
          <a:p>
            <a:pPr indent="0" marL="0">
              <a:buNone/>
            </a:pPr>
            <a:r>
              <a:rPr lang="en-US" sz="1200" dirty="0">
                <a:solidFill>
                  <a:srgbClr val="94A3B8"/>
                </a:solidFill>
              </a:rPr>
              <a:t>••••••••</a:t>
            </a:r>
            <a:endParaRPr lang="en-US" sz="1200" dirty="0"/>
          </a:p>
        </p:txBody>
      </p:sp>
      <p:sp>
        <p:nvSpPr>
          <p:cNvPr id="14" name="Shape 12"/>
          <p:cNvSpPr/>
          <p:nvPr/>
        </p:nvSpPr>
        <p:spPr>
          <a:xfrm>
            <a:off x="731520" y="3154680"/>
            <a:ext cx="3566160" cy="438912"/>
          </a:xfrm>
          <a:prstGeom prst="rect">
            <a:avLst/>
          </a:prstGeom>
          <a:solidFill>
            <a:srgbClr val="2563EB"/>
          </a:solidFill>
          <a:ln/>
        </p:spPr>
      </p:sp>
      <p:sp>
        <p:nvSpPr>
          <p:cNvPr id="15" name="Text 13"/>
          <p:cNvSpPr/>
          <p:nvPr/>
        </p:nvSpPr>
        <p:spPr>
          <a:xfrm>
            <a:off x="731520" y="3172968"/>
            <a:ext cx="356616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ログイン</a:t>
            </a:r>
            <a:endParaRPr lang="en-US" sz="1400" dirty="0"/>
          </a:p>
        </p:txBody>
      </p:sp>
      <p:sp>
        <p:nvSpPr>
          <p:cNvPr id="16" name="Shape 14"/>
          <p:cNvSpPr/>
          <p:nvPr/>
        </p:nvSpPr>
        <p:spPr>
          <a:xfrm>
            <a:off x="5029200" y="914400"/>
            <a:ext cx="384048" cy="384048"/>
          </a:xfrm>
          <a:prstGeom prst="ellipse">
            <a:avLst/>
          </a:prstGeom>
          <a:solidFill>
            <a:srgbClr val="2563EB"/>
          </a:solidFill>
          <a:ln/>
        </p:spPr>
      </p:sp>
      <p:sp>
        <p:nvSpPr>
          <p:cNvPr id="17" name="Text 15"/>
          <p:cNvSpPr/>
          <p:nvPr/>
        </p:nvSpPr>
        <p:spPr>
          <a:xfrm>
            <a:off x="5029200" y="914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8" name="Text 16"/>
          <p:cNvSpPr/>
          <p:nvPr/>
        </p:nvSpPr>
        <p:spPr>
          <a:xfrm>
            <a:off x="5532120" y="932688"/>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URLを開く</a:t>
            </a:r>
            <a:endParaRPr lang="en-US" sz="1300" dirty="0"/>
          </a:p>
        </p:txBody>
      </p:sp>
      <p:sp>
        <p:nvSpPr>
          <p:cNvPr id="19" name="Text 17"/>
          <p:cNvSpPr/>
          <p:nvPr/>
        </p:nvSpPr>
        <p:spPr>
          <a:xfrm>
            <a:off x="5532120" y="1280160"/>
            <a:ext cx="338328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管理者から共有された</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URLにアクセス</a:t>
            </a:r>
            <a:endParaRPr lang="en-US" sz="1000" dirty="0"/>
          </a:p>
        </p:txBody>
      </p:sp>
      <p:sp>
        <p:nvSpPr>
          <p:cNvPr id="20" name="Shape 18"/>
          <p:cNvSpPr/>
          <p:nvPr/>
        </p:nvSpPr>
        <p:spPr>
          <a:xfrm>
            <a:off x="5029200" y="1965960"/>
            <a:ext cx="384048" cy="384048"/>
          </a:xfrm>
          <a:prstGeom prst="ellipse">
            <a:avLst/>
          </a:prstGeom>
          <a:solidFill>
            <a:srgbClr val="2563EB"/>
          </a:solidFill>
          <a:ln/>
        </p:spPr>
      </p:sp>
      <p:sp>
        <p:nvSpPr>
          <p:cNvPr id="21" name="Text 19"/>
          <p:cNvSpPr/>
          <p:nvPr/>
        </p:nvSpPr>
        <p:spPr>
          <a:xfrm>
            <a:off x="502920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2" name="Text 20"/>
          <p:cNvSpPr/>
          <p:nvPr/>
        </p:nvSpPr>
        <p:spPr>
          <a:xfrm>
            <a:off x="5532120" y="1984248"/>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メールアドレスを入力</a:t>
            </a:r>
            <a:endParaRPr lang="en-US" sz="1300" dirty="0"/>
          </a:p>
        </p:txBody>
      </p:sp>
      <p:sp>
        <p:nvSpPr>
          <p:cNvPr id="23" name="Text 21"/>
          <p:cNvSpPr/>
          <p:nvPr/>
        </p:nvSpPr>
        <p:spPr>
          <a:xfrm>
            <a:off x="5532120" y="2331720"/>
            <a:ext cx="338328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登録済みのメールアドレスを</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入力してください</a:t>
            </a:r>
            <a:endParaRPr lang="en-US" sz="1000" dirty="0"/>
          </a:p>
        </p:txBody>
      </p:sp>
      <p:sp>
        <p:nvSpPr>
          <p:cNvPr id="24" name="Shape 22"/>
          <p:cNvSpPr/>
          <p:nvPr/>
        </p:nvSpPr>
        <p:spPr>
          <a:xfrm>
            <a:off x="5029200" y="3017520"/>
            <a:ext cx="384048" cy="384048"/>
          </a:xfrm>
          <a:prstGeom prst="ellipse">
            <a:avLst/>
          </a:prstGeom>
          <a:solidFill>
            <a:srgbClr val="2563EB"/>
          </a:solidFill>
          <a:ln/>
        </p:spPr>
      </p:sp>
      <p:sp>
        <p:nvSpPr>
          <p:cNvPr id="25" name="Text 23"/>
          <p:cNvSpPr/>
          <p:nvPr/>
        </p:nvSpPr>
        <p:spPr>
          <a:xfrm>
            <a:off x="502920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4"/>
          <p:cNvSpPr/>
          <p:nvPr/>
        </p:nvSpPr>
        <p:spPr>
          <a:xfrm>
            <a:off x="5532120" y="3035808"/>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パスワードを入力</a:t>
            </a:r>
            <a:endParaRPr lang="en-US" sz="1300" dirty="0"/>
          </a:p>
        </p:txBody>
      </p:sp>
      <p:sp>
        <p:nvSpPr>
          <p:cNvPr id="27" name="Text 25"/>
          <p:cNvSpPr/>
          <p:nvPr/>
        </p:nvSpPr>
        <p:spPr>
          <a:xfrm>
            <a:off x="5532120" y="3383280"/>
            <a:ext cx="338328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初期パスワードは</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管理者から受け取ります</a:t>
            </a:r>
            <a:endParaRPr lang="en-US" sz="1000" dirty="0"/>
          </a:p>
        </p:txBody>
      </p:sp>
      <p:sp>
        <p:nvSpPr>
          <p:cNvPr id="28" name="Shape 26"/>
          <p:cNvSpPr/>
          <p:nvPr/>
        </p:nvSpPr>
        <p:spPr>
          <a:xfrm>
            <a:off x="5029200" y="4069080"/>
            <a:ext cx="384048" cy="384048"/>
          </a:xfrm>
          <a:prstGeom prst="ellipse">
            <a:avLst/>
          </a:prstGeom>
          <a:solidFill>
            <a:srgbClr val="2563EB"/>
          </a:solidFill>
          <a:ln/>
        </p:spPr>
      </p:sp>
      <p:sp>
        <p:nvSpPr>
          <p:cNvPr id="29" name="Text 27"/>
          <p:cNvSpPr/>
          <p:nvPr/>
        </p:nvSpPr>
        <p:spPr>
          <a:xfrm>
            <a:off x="502920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p:nvPr/>
        </p:nvSpPr>
        <p:spPr>
          <a:xfrm>
            <a:off x="5532120" y="4087368"/>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ログインボタンをクリック</a:t>
            </a:r>
            <a:endParaRPr lang="en-US" sz="1300" dirty="0"/>
          </a:p>
        </p:txBody>
      </p:sp>
      <p:sp>
        <p:nvSpPr>
          <p:cNvPr id="31" name="Text 29"/>
          <p:cNvSpPr/>
          <p:nvPr/>
        </p:nvSpPr>
        <p:spPr>
          <a:xfrm>
            <a:off x="5532120" y="4434840"/>
            <a:ext cx="3383280" cy="5943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ダッシュボードに移動します</a:t>
            </a:r>
            <a:endParaRPr lang="en-US" sz="1000" dirty="0"/>
          </a:p>
        </p:txBody>
      </p:sp>
      <p:sp>
        <p:nvSpPr>
          <p:cNvPr id="32" name="Shape 30"/>
          <p:cNvSpPr/>
          <p:nvPr/>
        </p:nvSpPr>
        <p:spPr>
          <a:xfrm>
            <a:off x="457200" y="4617720"/>
            <a:ext cx="8229600" cy="530352"/>
          </a:xfrm>
          <a:prstGeom prst="rect">
            <a:avLst/>
          </a:prstGeom>
          <a:solidFill>
            <a:srgbClr val="EFF6FF"/>
          </a:solidFill>
          <a:ln w="12700">
            <a:solidFill>
              <a:srgbClr val="0EA5E9"/>
            </a:solidFill>
            <a:prstDash val="solid"/>
          </a:ln>
        </p:spPr>
      </p:sp>
      <p:sp>
        <p:nvSpPr>
          <p:cNvPr id="33" name="Text 31"/>
          <p:cNvSpPr/>
          <p:nvPr/>
        </p:nvSpPr>
        <p:spPr>
          <a:xfrm>
            <a:off x="566928" y="4654296"/>
            <a:ext cx="804672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パスワードを忘れた場合は管理者に連絡してリセットしてもらいましょう。</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0EA5E9"/>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02  見積の新規作成</a:t>
            </a:r>
            <a:endParaRPr lang="en-US" sz="2000" dirty="0"/>
          </a:p>
        </p:txBody>
      </p:sp>
      <p:sp>
        <p:nvSpPr>
          <p:cNvPr id="5" name="Shape 3"/>
          <p:cNvSpPr/>
          <p:nvPr/>
        </p:nvSpPr>
        <p:spPr>
          <a:xfrm>
            <a:off x="411480" y="841248"/>
            <a:ext cx="1508760" cy="3246120"/>
          </a:xfrm>
          <a:prstGeom prst="rect">
            <a:avLst/>
          </a:prstGeom>
          <a:solidFill>
            <a:srgbClr val="EFF6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11480" y="841248"/>
            <a:ext cx="1508760" cy="54864"/>
          </a:xfrm>
          <a:prstGeom prst="rect">
            <a:avLst/>
          </a:prstGeom>
          <a:solidFill>
            <a:srgbClr val="0EA5E9"/>
          </a:solidFill>
          <a:ln/>
        </p:spPr>
      </p:sp>
      <p:sp>
        <p:nvSpPr>
          <p:cNvPr id="7" name="Shape 5"/>
          <p:cNvSpPr/>
          <p:nvPr/>
        </p:nvSpPr>
        <p:spPr>
          <a:xfrm>
            <a:off x="969264" y="1005840"/>
            <a:ext cx="384048" cy="384048"/>
          </a:xfrm>
          <a:prstGeom prst="ellipse">
            <a:avLst/>
          </a:prstGeom>
          <a:solidFill>
            <a:srgbClr val="0EA5E9"/>
          </a:solidFill>
          <a:ln/>
        </p:spPr>
      </p:sp>
      <p:sp>
        <p:nvSpPr>
          <p:cNvPr id="8" name="Text 6"/>
          <p:cNvSpPr/>
          <p:nvPr/>
        </p:nvSpPr>
        <p:spPr>
          <a:xfrm>
            <a:off x="969264" y="1005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484632" y="1517904"/>
            <a:ext cx="1362456" cy="457200"/>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見積一覧へ移動</a:t>
            </a:r>
            <a:endParaRPr lang="en-US" sz="1150" dirty="0"/>
          </a:p>
        </p:txBody>
      </p:sp>
      <p:sp>
        <p:nvSpPr>
          <p:cNvPr id="10" name="Shape 8"/>
          <p:cNvSpPr/>
          <p:nvPr/>
        </p:nvSpPr>
        <p:spPr>
          <a:xfrm>
            <a:off x="731520" y="2011680"/>
            <a:ext cx="868680" cy="27432"/>
          </a:xfrm>
          <a:prstGeom prst="rect">
            <a:avLst/>
          </a:prstGeom>
          <a:solidFill>
            <a:srgbClr val="0EA5E9"/>
          </a:solidFill>
          <a:ln/>
        </p:spPr>
      </p:sp>
      <p:sp>
        <p:nvSpPr>
          <p:cNvPr id="11" name="Text 9"/>
          <p:cNvSpPr/>
          <p:nvPr/>
        </p:nvSpPr>
        <p:spPr>
          <a:xfrm>
            <a:off x="484632" y="2103120"/>
            <a:ext cx="1362456" cy="9144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サイドバーの</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「見積一覧」をクリック</a:t>
            </a:r>
            <a:endParaRPr lang="en-US" sz="1000" dirty="0"/>
          </a:p>
        </p:txBody>
      </p:sp>
      <p:sp>
        <p:nvSpPr>
          <p:cNvPr id="12" name="Text 10"/>
          <p:cNvSpPr/>
          <p:nvPr/>
        </p:nvSpPr>
        <p:spPr>
          <a:xfrm>
            <a:off x="1947672" y="2011680"/>
            <a:ext cx="182880" cy="36576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13" name="Shape 11"/>
          <p:cNvSpPr/>
          <p:nvPr/>
        </p:nvSpPr>
        <p:spPr>
          <a:xfrm>
            <a:off x="2103120" y="841248"/>
            <a:ext cx="1508760" cy="324612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103120" y="841248"/>
            <a:ext cx="1508760" cy="54864"/>
          </a:xfrm>
          <a:prstGeom prst="rect">
            <a:avLst/>
          </a:prstGeom>
          <a:solidFill>
            <a:srgbClr val="0EA5E9"/>
          </a:solidFill>
          <a:ln/>
        </p:spPr>
      </p:sp>
      <p:sp>
        <p:nvSpPr>
          <p:cNvPr id="15" name="Shape 13"/>
          <p:cNvSpPr/>
          <p:nvPr/>
        </p:nvSpPr>
        <p:spPr>
          <a:xfrm>
            <a:off x="2660904" y="1005840"/>
            <a:ext cx="384048" cy="384048"/>
          </a:xfrm>
          <a:prstGeom prst="ellipse">
            <a:avLst/>
          </a:prstGeom>
          <a:solidFill>
            <a:srgbClr val="0EA5E9"/>
          </a:solidFill>
          <a:ln/>
        </p:spPr>
      </p:sp>
      <p:sp>
        <p:nvSpPr>
          <p:cNvPr id="16" name="Text 14"/>
          <p:cNvSpPr/>
          <p:nvPr/>
        </p:nvSpPr>
        <p:spPr>
          <a:xfrm>
            <a:off x="2660904" y="1005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2176272" y="1517904"/>
            <a:ext cx="1362456" cy="457200"/>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新規作成</a:t>
            </a:r>
            <a:endParaRPr lang="en-US" sz="1150" dirty="0"/>
          </a:p>
        </p:txBody>
      </p:sp>
      <p:sp>
        <p:nvSpPr>
          <p:cNvPr id="18" name="Shape 16"/>
          <p:cNvSpPr/>
          <p:nvPr/>
        </p:nvSpPr>
        <p:spPr>
          <a:xfrm>
            <a:off x="2423160" y="2011680"/>
            <a:ext cx="868680" cy="27432"/>
          </a:xfrm>
          <a:prstGeom prst="rect">
            <a:avLst/>
          </a:prstGeom>
          <a:solidFill>
            <a:srgbClr val="0EA5E9"/>
          </a:solidFill>
          <a:ln/>
        </p:spPr>
      </p:sp>
      <p:sp>
        <p:nvSpPr>
          <p:cNvPr id="19" name="Text 17"/>
          <p:cNvSpPr/>
          <p:nvPr/>
        </p:nvSpPr>
        <p:spPr>
          <a:xfrm>
            <a:off x="2176272" y="2103120"/>
            <a:ext cx="1362456" cy="9144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右上の「＋新規作成」</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ボタンをクリック</a:t>
            </a:r>
            <a:endParaRPr lang="en-US" sz="1000" dirty="0"/>
          </a:p>
        </p:txBody>
      </p:sp>
      <p:sp>
        <p:nvSpPr>
          <p:cNvPr id="20" name="Text 18"/>
          <p:cNvSpPr/>
          <p:nvPr/>
        </p:nvSpPr>
        <p:spPr>
          <a:xfrm>
            <a:off x="3639312" y="2011680"/>
            <a:ext cx="182880" cy="36576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21" name="Shape 19"/>
          <p:cNvSpPr/>
          <p:nvPr/>
        </p:nvSpPr>
        <p:spPr>
          <a:xfrm>
            <a:off x="3794760" y="841248"/>
            <a:ext cx="1508760" cy="3246120"/>
          </a:xfrm>
          <a:prstGeom prst="rect">
            <a:avLst/>
          </a:prstGeom>
          <a:solidFill>
            <a:srgbClr val="EFF6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2" name="Shape 20"/>
          <p:cNvSpPr/>
          <p:nvPr/>
        </p:nvSpPr>
        <p:spPr>
          <a:xfrm>
            <a:off x="3794760" y="841248"/>
            <a:ext cx="1508760" cy="54864"/>
          </a:xfrm>
          <a:prstGeom prst="rect">
            <a:avLst/>
          </a:prstGeom>
          <a:solidFill>
            <a:srgbClr val="0EA5E9"/>
          </a:solidFill>
          <a:ln/>
        </p:spPr>
      </p:sp>
      <p:sp>
        <p:nvSpPr>
          <p:cNvPr id="23" name="Shape 21"/>
          <p:cNvSpPr/>
          <p:nvPr/>
        </p:nvSpPr>
        <p:spPr>
          <a:xfrm>
            <a:off x="4352544" y="1005840"/>
            <a:ext cx="384048" cy="384048"/>
          </a:xfrm>
          <a:prstGeom prst="ellipse">
            <a:avLst/>
          </a:prstGeom>
          <a:solidFill>
            <a:srgbClr val="0EA5E9"/>
          </a:solidFill>
          <a:ln/>
        </p:spPr>
      </p:sp>
      <p:sp>
        <p:nvSpPr>
          <p:cNvPr id="24" name="Text 22"/>
          <p:cNvSpPr/>
          <p:nvPr/>
        </p:nvSpPr>
        <p:spPr>
          <a:xfrm>
            <a:off x="4352544" y="1005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5" name="Text 23"/>
          <p:cNvSpPr/>
          <p:nvPr/>
        </p:nvSpPr>
        <p:spPr>
          <a:xfrm>
            <a:off x="3867912" y="1517904"/>
            <a:ext cx="1362456" cy="457200"/>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基本情報を入力</a:t>
            </a:r>
            <a:endParaRPr lang="en-US" sz="1150" dirty="0"/>
          </a:p>
        </p:txBody>
      </p:sp>
      <p:sp>
        <p:nvSpPr>
          <p:cNvPr id="26" name="Shape 24"/>
          <p:cNvSpPr/>
          <p:nvPr/>
        </p:nvSpPr>
        <p:spPr>
          <a:xfrm>
            <a:off x="4114800" y="2011680"/>
            <a:ext cx="868680" cy="27432"/>
          </a:xfrm>
          <a:prstGeom prst="rect">
            <a:avLst/>
          </a:prstGeom>
          <a:solidFill>
            <a:srgbClr val="0EA5E9"/>
          </a:solidFill>
          <a:ln/>
        </p:spPr>
      </p:sp>
      <p:sp>
        <p:nvSpPr>
          <p:cNvPr id="27" name="Text 25"/>
          <p:cNvSpPr/>
          <p:nvPr/>
        </p:nvSpPr>
        <p:spPr>
          <a:xfrm>
            <a:off x="3867912" y="2103120"/>
            <a:ext cx="1362456" cy="9144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件名・顧客・</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発行日・有効期限を設定</a:t>
            </a:r>
            <a:endParaRPr lang="en-US" sz="1000" dirty="0"/>
          </a:p>
        </p:txBody>
      </p:sp>
      <p:sp>
        <p:nvSpPr>
          <p:cNvPr id="28" name="Text 26"/>
          <p:cNvSpPr/>
          <p:nvPr/>
        </p:nvSpPr>
        <p:spPr>
          <a:xfrm>
            <a:off x="5330952" y="2011680"/>
            <a:ext cx="182880" cy="36576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29" name="Shape 27"/>
          <p:cNvSpPr/>
          <p:nvPr/>
        </p:nvSpPr>
        <p:spPr>
          <a:xfrm>
            <a:off x="5486400" y="841248"/>
            <a:ext cx="1508760" cy="324612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0" name="Shape 28"/>
          <p:cNvSpPr/>
          <p:nvPr/>
        </p:nvSpPr>
        <p:spPr>
          <a:xfrm>
            <a:off x="5486400" y="841248"/>
            <a:ext cx="1508760" cy="54864"/>
          </a:xfrm>
          <a:prstGeom prst="rect">
            <a:avLst/>
          </a:prstGeom>
          <a:solidFill>
            <a:srgbClr val="0EA5E9"/>
          </a:solidFill>
          <a:ln/>
        </p:spPr>
      </p:sp>
      <p:sp>
        <p:nvSpPr>
          <p:cNvPr id="31" name="Shape 29"/>
          <p:cNvSpPr/>
          <p:nvPr/>
        </p:nvSpPr>
        <p:spPr>
          <a:xfrm>
            <a:off x="6044184" y="1005840"/>
            <a:ext cx="384048" cy="384048"/>
          </a:xfrm>
          <a:prstGeom prst="ellipse">
            <a:avLst/>
          </a:prstGeom>
          <a:solidFill>
            <a:srgbClr val="0EA5E9"/>
          </a:solidFill>
          <a:ln/>
        </p:spPr>
      </p:sp>
      <p:sp>
        <p:nvSpPr>
          <p:cNvPr id="32" name="Text 30"/>
          <p:cNvSpPr/>
          <p:nvPr/>
        </p:nvSpPr>
        <p:spPr>
          <a:xfrm>
            <a:off x="6044184" y="1005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3" name="Text 31"/>
          <p:cNvSpPr/>
          <p:nvPr/>
        </p:nvSpPr>
        <p:spPr>
          <a:xfrm>
            <a:off x="5559552" y="1517904"/>
            <a:ext cx="1362456" cy="457200"/>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明細行を追加</a:t>
            </a:r>
            <a:endParaRPr lang="en-US" sz="1150" dirty="0"/>
          </a:p>
        </p:txBody>
      </p:sp>
      <p:sp>
        <p:nvSpPr>
          <p:cNvPr id="34" name="Shape 32"/>
          <p:cNvSpPr/>
          <p:nvPr/>
        </p:nvSpPr>
        <p:spPr>
          <a:xfrm>
            <a:off x="5806440" y="2011680"/>
            <a:ext cx="868680" cy="27432"/>
          </a:xfrm>
          <a:prstGeom prst="rect">
            <a:avLst/>
          </a:prstGeom>
          <a:solidFill>
            <a:srgbClr val="0EA5E9"/>
          </a:solidFill>
          <a:ln/>
        </p:spPr>
      </p:sp>
      <p:sp>
        <p:nvSpPr>
          <p:cNvPr id="35" name="Text 33"/>
          <p:cNvSpPr/>
          <p:nvPr/>
        </p:nvSpPr>
        <p:spPr>
          <a:xfrm>
            <a:off x="5559552" y="2103120"/>
            <a:ext cx="1362456" cy="9144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「行を追加」ボタンで</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品名・仕様・数量・単価を入力</a:t>
            </a:r>
            <a:endParaRPr lang="en-US" sz="1000" dirty="0"/>
          </a:p>
        </p:txBody>
      </p:sp>
      <p:sp>
        <p:nvSpPr>
          <p:cNvPr id="36" name="Text 34"/>
          <p:cNvSpPr/>
          <p:nvPr/>
        </p:nvSpPr>
        <p:spPr>
          <a:xfrm>
            <a:off x="7022592" y="2011680"/>
            <a:ext cx="182880" cy="365760"/>
          </a:xfrm>
          <a:prstGeom prst="rect">
            <a:avLst/>
          </a:prstGeom>
          <a:noFill/>
          <a:ln/>
        </p:spPr>
        <p:txBody>
          <a:bodyPr wrap="square" lIns="0" tIns="0" rIns="0" bIns="0" rtlCol="0" anchor="ctr"/>
          <a:lstStyle/>
          <a:p>
            <a:pPr algn="ctr" indent="0" marL="0">
              <a:buNone/>
            </a:pPr>
            <a:r>
              <a:rPr lang="en-US" sz="1600" dirty="0">
                <a:solidFill>
                  <a:srgbClr val="CBD5E1"/>
                </a:solidFill>
              </a:rPr>
              <a:t>→</a:t>
            </a:r>
            <a:endParaRPr lang="en-US" sz="1600" dirty="0"/>
          </a:p>
        </p:txBody>
      </p:sp>
      <p:sp>
        <p:nvSpPr>
          <p:cNvPr id="37" name="Shape 35"/>
          <p:cNvSpPr/>
          <p:nvPr/>
        </p:nvSpPr>
        <p:spPr>
          <a:xfrm>
            <a:off x="7178040" y="841248"/>
            <a:ext cx="1508760" cy="3246120"/>
          </a:xfrm>
          <a:prstGeom prst="rect">
            <a:avLst/>
          </a:prstGeom>
          <a:solidFill>
            <a:srgbClr val="EFF6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8" name="Shape 36"/>
          <p:cNvSpPr/>
          <p:nvPr/>
        </p:nvSpPr>
        <p:spPr>
          <a:xfrm>
            <a:off x="7178040" y="841248"/>
            <a:ext cx="1508760" cy="54864"/>
          </a:xfrm>
          <a:prstGeom prst="rect">
            <a:avLst/>
          </a:prstGeom>
          <a:solidFill>
            <a:srgbClr val="0EA5E9"/>
          </a:solidFill>
          <a:ln/>
        </p:spPr>
      </p:sp>
      <p:sp>
        <p:nvSpPr>
          <p:cNvPr id="39" name="Shape 37"/>
          <p:cNvSpPr/>
          <p:nvPr/>
        </p:nvSpPr>
        <p:spPr>
          <a:xfrm>
            <a:off x="7735824" y="1005840"/>
            <a:ext cx="384048" cy="384048"/>
          </a:xfrm>
          <a:prstGeom prst="ellipse">
            <a:avLst/>
          </a:prstGeom>
          <a:solidFill>
            <a:srgbClr val="0EA5E9"/>
          </a:solidFill>
          <a:ln/>
        </p:spPr>
      </p:sp>
      <p:sp>
        <p:nvSpPr>
          <p:cNvPr id="40" name="Text 38"/>
          <p:cNvSpPr/>
          <p:nvPr/>
        </p:nvSpPr>
        <p:spPr>
          <a:xfrm>
            <a:off x="7735824" y="1005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41" name="Text 39"/>
          <p:cNvSpPr/>
          <p:nvPr/>
        </p:nvSpPr>
        <p:spPr>
          <a:xfrm>
            <a:off x="7251192" y="1517904"/>
            <a:ext cx="1362456" cy="457200"/>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保存</a:t>
            </a:r>
            <a:endParaRPr lang="en-US" sz="1150" dirty="0"/>
          </a:p>
        </p:txBody>
      </p:sp>
      <p:sp>
        <p:nvSpPr>
          <p:cNvPr id="42" name="Shape 40"/>
          <p:cNvSpPr/>
          <p:nvPr/>
        </p:nvSpPr>
        <p:spPr>
          <a:xfrm>
            <a:off x="7498080" y="2011680"/>
            <a:ext cx="868680" cy="27432"/>
          </a:xfrm>
          <a:prstGeom prst="rect">
            <a:avLst/>
          </a:prstGeom>
          <a:solidFill>
            <a:srgbClr val="0EA5E9"/>
          </a:solidFill>
          <a:ln/>
        </p:spPr>
      </p:sp>
      <p:sp>
        <p:nvSpPr>
          <p:cNvPr id="43" name="Text 41"/>
          <p:cNvSpPr/>
          <p:nvPr/>
        </p:nvSpPr>
        <p:spPr>
          <a:xfrm>
            <a:off x="7251192" y="2103120"/>
            <a:ext cx="1362456" cy="9144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「保存」ボタンをクリック</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して見積を確定</a:t>
            </a:r>
            <a:endParaRPr lang="en-US" sz="1000" dirty="0"/>
          </a:p>
        </p:txBody>
      </p:sp>
      <p:sp>
        <p:nvSpPr>
          <p:cNvPr id="44" name="Shape 42"/>
          <p:cNvSpPr/>
          <p:nvPr/>
        </p:nvSpPr>
        <p:spPr>
          <a:xfrm>
            <a:off x="411480" y="4187952"/>
            <a:ext cx="8321040" cy="804672"/>
          </a:xfrm>
          <a:prstGeom prst="rect">
            <a:avLst/>
          </a:prstGeom>
          <a:solidFill>
            <a:srgbClr val="EFF6FF"/>
          </a:solidFill>
          <a:ln w="12700">
            <a:solidFill>
              <a:srgbClr val="60A5FA"/>
            </a:solidFill>
            <a:prstDash val="solid"/>
          </a:ln>
        </p:spPr>
      </p:sp>
      <p:sp>
        <p:nvSpPr>
          <p:cNvPr id="45" name="Text 43"/>
          <p:cNvSpPr/>
          <p:nvPr/>
        </p:nvSpPr>
        <p:spPr>
          <a:xfrm>
            <a:off x="594360" y="4251960"/>
            <a:ext cx="1280160" cy="292608"/>
          </a:xfrm>
          <a:prstGeom prst="rect">
            <a:avLst/>
          </a:prstGeom>
          <a:noFill/>
          <a:ln/>
        </p:spPr>
        <p:txBody>
          <a:bodyPr wrap="square" lIns="0" tIns="0" rIns="0" bIns="0" rtlCol="0" anchor="ctr"/>
          <a:lstStyle/>
          <a:p>
            <a:pPr indent="0" marL="0">
              <a:buNone/>
            </a:pPr>
            <a:r>
              <a:rPr lang="en-US" sz="1000" b="1" dirty="0">
                <a:solidFill>
                  <a:srgbClr val="1E3A6E"/>
                </a:solidFill>
              </a:rPr>
              <a:t>明細入力項目:</a:t>
            </a:r>
            <a:endParaRPr lang="en-US" sz="1000" dirty="0"/>
          </a:p>
        </p:txBody>
      </p:sp>
      <p:sp>
        <p:nvSpPr>
          <p:cNvPr id="46" name="Text 44"/>
          <p:cNvSpPr/>
          <p:nvPr/>
        </p:nvSpPr>
        <p:spPr>
          <a:xfrm>
            <a:off x="594360" y="4315968"/>
            <a:ext cx="1737360" cy="256032"/>
          </a:xfrm>
          <a:prstGeom prst="rect">
            <a:avLst/>
          </a:prstGeom>
          <a:noFill/>
          <a:ln/>
        </p:spPr>
        <p:txBody>
          <a:bodyPr wrap="square" lIns="0" tIns="0" rIns="0" bIns="0" rtlCol="0" anchor="ctr"/>
          <a:lstStyle/>
          <a:p>
            <a:pPr indent="0" marL="0">
              <a:buNone/>
            </a:pPr>
            <a:r>
              <a:rPr lang="en-US" sz="950" dirty="0">
                <a:solidFill>
                  <a:srgbClr val="64748B"/>
                </a:solidFill>
              </a:rPr>
              <a:t>品名</a:t>
            </a:r>
            <a:endParaRPr lang="en-US" sz="950" dirty="0"/>
          </a:p>
        </p:txBody>
      </p:sp>
      <p:sp>
        <p:nvSpPr>
          <p:cNvPr id="47" name="Text 45"/>
          <p:cNvSpPr/>
          <p:nvPr/>
        </p:nvSpPr>
        <p:spPr>
          <a:xfrm>
            <a:off x="2514600" y="4315968"/>
            <a:ext cx="1737360" cy="256032"/>
          </a:xfrm>
          <a:prstGeom prst="rect">
            <a:avLst/>
          </a:prstGeom>
          <a:noFill/>
          <a:ln/>
        </p:spPr>
        <p:txBody>
          <a:bodyPr wrap="square" lIns="0" tIns="0" rIns="0" bIns="0" rtlCol="0" anchor="ctr"/>
          <a:lstStyle/>
          <a:p>
            <a:pPr indent="0" marL="0">
              <a:buNone/>
            </a:pPr>
            <a:r>
              <a:rPr lang="en-US" sz="950" dirty="0">
                <a:solidFill>
                  <a:srgbClr val="64748B"/>
                </a:solidFill>
              </a:rPr>
              <a:t>仕様/型番</a:t>
            </a:r>
            <a:endParaRPr lang="en-US" sz="950" dirty="0"/>
          </a:p>
        </p:txBody>
      </p:sp>
      <p:sp>
        <p:nvSpPr>
          <p:cNvPr id="48" name="Text 46"/>
          <p:cNvSpPr/>
          <p:nvPr/>
        </p:nvSpPr>
        <p:spPr>
          <a:xfrm>
            <a:off x="4434840" y="4315968"/>
            <a:ext cx="1737360" cy="256032"/>
          </a:xfrm>
          <a:prstGeom prst="rect">
            <a:avLst/>
          </a:prstGeom>
          <a:noFill/>
          <a:ln/>
        </p:spPr>
        <p:txBody>
          <a:bodyPr wrap="square" lIns="0" tIns="0" rIns="0" bIns="0" rtlCol="0" anchor="ctr"/>
          <a:lstStyle/>
          <a:p>
            <a:pPr indent="0" marL="0">
              <a:buNone/>
            </a:pPr>
            <a:r>
              <a:rPr lang="en-US" sz="950" dirty="0">
                <a:solidFill>
                  <a:srgbClr val="64748B"/>
                </a:solidFill>
              </a:rPr>
              <a:t>数量</a:t>
            </a:r>
            <a:endParaRPr lang="en-US" sz="950" dirty="0"/>
          </a:p>
        </p:txBody>
      </p:sp>
      <p:sp>
        <p:nvSpPr>
          <p:cNvPr id="49" name="Text 47"/>
          <p:cNvSpPr/>
          <p:nvPr/>
        </p:nvSpPr>
        <p:spPr>
          <a:xfrm>
            <a:off x="6355080" y="4315968"/>
            <a:ext cx="1737360" cy="256032"/>
          </a:xfrm>
          <a:prstGeom prst="rect">
            <a:avLst/>
          </a:prstGeom>
          <a:noFill/>
          <a:ln/>
        </p:spPr>
        <p:txBody>
          <a:bodyPr wrap="square" lIns="0" tIns="0" rIns="0" bIns="0" rtlCol="0" anchor="ctr"/>
          <a:lstStyle/>
          <a:p>
            <a:pPr indent="0" marL="0">
              <a:buNone/>
            </a:pPr>
            <a:r>
              <a:rPr lang="en-US" sz="950" dirty="0">
                <a:solidFill>
                  <a:srgbClr val="64748B"/>
                </a:solidFill>
              </a:rPr>
              <a:t>単位</a:t>
            </a:r>
            <a:endParaRPr lang="en-US" sz="950" dirty="0"/>
          </a:p>
        </p:txBody>
      </p:sp>
      <p:sp>
        <p:nvSpPr>
          <p:cNvPr id="50" name="Text 48"/>
          <p:cNvSpPr/>
          <p:nvPr/>
        </p:nvSpPr>
        <p:spPr>
          <a:xfrm>
            <a:off x="594360" y="4608576"/>
            <a:ext cx="1737360" cy="256032"/>
          </a:xfrm>
          <a:prstGeom prst="rect">
            <a:avLst/>
          </a:prstGeom>
          <a:noFill/>
          <a:ln/>
        </p:spPr>
        <p:txBody>
          <a:bodyPr wrap="square" lIns="0" tIns="0" rIns="0" bIns="0" rtlCol="0" anchor="ctr"/>
          <a:lstStyle/>
          <a:p>
            <a:pPr indent="0" marL="0">
              <a:buNone/>
            </a:pPr>
            <a:r>
              <a:rPr lang="en-US" sz="950" dirty="0">
                <a:solidFill>
                  <a:srgbClr val="64748B"/>
                </a:solidFill>
              </a:rPr>
              <a:t>見積単価</a:t>
            </a:r>
            <a:endParaRPr lang="en-US" sz="950" dirty="0"/>
          </a:p>
        </p:txBody>
      </p:sp>
      <p:sp>
        <p:nvSpPr>
          <p:cNvPr id="51" name="Text 49"/>
          <p:cNvSpPr/>
          <p:nvPr/>
        </p:nvSpPr>
        <p:spPr>
          <a:xfrm>
            <a:off x="2514600" y="4608576"/>
            <a:ext cx="1737360" cy="256032"/>
          </a:xfrm>
          <a:prstGeom prst="rect">
            <a:avLst/>
          </a:prstGeom>
          <a:noFill/>
          <a:ln/>
        </p:spPr>
        <p:txBody>
          <a:bodyPr wrap="square" lIns="0" tIns="0" rIns="0" bIns="0" rtlCol="0" anchor="ctr"/>
          <a:lstStyle/>
          <a:p>
            <a:pPr indent="0" marL="0">
              <a:buNone/>
            </a:pPr>
            <a:r>
              <a:rPr lang="en-US" sz="950" dirty="0">
                <a:solidFill>
                  <a:srgbClr val="64748B"/>
                </a:solidFill>
              </a:rPr>
              <a:t>見積金額（自動計算）</a:t>
            </a:r>
            <a:endParaRPr lang="en-US" sz="950" dirty="0"/>
          </a:p>
        </p:txBody>
      </p:sp>
      <p:sp>
        <p:nvSpPr>
          <p:cNvPr id="52" name="Text 50"/>
          <p:cNvSpPr/>
          <p:nvPr/>
        </p:nvSpPr>
        <p:spPr>
          <a:xfrm>
            <a:off x="4434840" y="4608576"/>
            <a:ext cx="1737360" cy="256032"/>
          </a:xfrm>
          <a:prstGeom prst="rect">
            <a:avLst/>
          </a:prstGeom>
          <a:noFill/>
          <a:ln/>
        </p:spPr>
        <p:txBody>
          <a:bodyPr wrap="square" lIns="0" tIns="0" rIns="0" bIns="0" rtlCol="0" anchor="ctr"/>
          <a:lstStyle/>
          <a:p>
            <a:pPr indent="0" marL="0">
              <a:buNone/>
            </a:pPr>
            <a:r>
              <a:rPr lang="en-US" sz="950" dirty="0">
                <a:solidFill>
                  <a:srgbClr val="64748B"/>
                </a:solidFill>
              </a:rPr>
              <a:t>仕入単価</a:t>
            </a:r>
            <a:endParaRPr lang="en-US" sz="950" dirty="0"/>
          </a:p>
        </p:txBody>
      </p:sp>
      <p:sp>
        <p:nvSpPr>
          <p:cNvPr id="53" name="Text 51"/>
          <p:cNvSpPr/>
          <p:nvPr/>
        </p:nvSpPr>
        <p:spPr>
          <a:xfrm>
            <a:off x="6355080" y="4608576"/>
            <a:ext cx="1737360" cy="256032"/>
          </a:xfrm>
          <a:prstGeom prst="rect">
            <a:avLst/>
          </a:prstGeom>
          <a:noFill/>
          <a:ln/>
        </p:spPr>
        <p:txBody>
          <a:bodyPr wrap="square" lIns="0" tIns="0" rIns="0" bIns="0" rtlCol="0" anchor="ctr"/>
          <a:lstStyle/>
          <a:p>
            <a:pPr indent="0" marL="0">
              <a:buNone/>
            </a:pPr>
            <a:r>
              <a:rPr lang="en-US" sz="950" dirty="0">
                <a:solidFill>
                  <a:srgbClr val="64748B"/>
                </a:solidFill>
              </a:rPr>
              <a:t>法定福利費</a:t>
            </a:r>
            <a:endParaRPr lang="en-US" sz="950" dirty="0"/>
          </a:p>
        </p:txBody>
      </p:sp>
      <p:sp>
        <p:nvSpPr>
          <p:cNvPr id="54" name="Text 52"/>
          <p:cNvSpPr/>
          <p:nvPr/>
        </p:nvSpPr>
        <p:spPr>
          <a:xfrm>
            <a:off x="502920" y="4608576"/>
            <a:ext cx="182880" cy="237744"/>
          </a:xfrm>
          <a:prstGeom prst="rect">
            <a:avLst/>
          </a:prstGeom>
          <a:noFill/>
          <a:ln/>
        </p:spPr>
        <p:txBody>
          <a:bodyPr wrap="square" lIns="0" tIns="0" rIns="0" bIns="0" rtlCol="0" anchor="ctr"/>
          <a:lstStyle/>
          <a:p>
            <a:pPr indent="0" marL="0">
              <a:buNone/>
            </a:pPr>
            <a:r>
              <a:rPr lang="en-US" sz="900" dirty="0">
                <a:solidFill>
                  <a:srgbClr val="64748B"/>
                </a:solidFill>
              </a:rPr>
              <a:t>  •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D97706"/>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03  登録単価表から品目を追加</a:t>
            </a:r>
            <a:endParaRPr lang="en-US" sz="2000" dirty="0"/>
          </a:p>
        </p:txBody>
      </p:sp>
      <p:sp>
        <p:nvSpPr>
          <p:cNvPr id="5" name="Text 3"/>
          <p:cNvSpPr/>
          <p:nvPr/>
        </p:nvSpPr>
        <p:spPr>
          <a:xfrm>
            <a:off x="457200" y="804672"/>
            <a:ext cx="822960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よく使う品目は「登録単価表」に登録しておくと、見積作成時に素早く呼び出せます。</a:t>
            </a:r>
            <a:endParaRPr lang="en-US" sz="1200" dirty="0"/>
          </a:p>
        </p:txBody>
      </p:sp>
      <p:sp>
        <p:nvSpPr>
          <p:cNvPr id="6" name="Shape 4"/>
          <p:cNvSpPr/>
          <p:nvPr/>
        </p:nvSpPr>
        <p:spPr>
          <a:xfrm>
            <a:off x="457200" y="1325880"/>
            <a:ext cx="1920240" cy="320040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325880"/>
            <a:ext cx="1920240" cy="45720"/>
          </a:xfrm>
          <a:prstGeom prst="rect">
            <a:avLst/>
          </a:prstGeom>
          <a:solidFill>
            <a:srgbClr val="D97706"/>
          </a:solidFill>
          <a:ln/>
        </p:spPr>
      </p:sp>
      <p:sp>
        <p:nvSpPr>
          <p:cNvPr id="8" name="Shape 6"/>
          <p:cNvSpPr/>
          <p:nvPr/>
        </p:nvSpPr>
        <p:spPr>
          <a:xfrm>
            <a:off x="1197864" y="1463040"/>
            <a:ext cx="438912" cy="438912"/>
          </a:xfrm>
          <a:prstGeom prst="ellipse">
            <a:avLst/>
          </a:prstGeom>
          <a:solidFill>
            <a:srgbClr val="D97706"/>
          </a:solidFill>
          <a:ln/>
        </p:spPr>
      </p:sp>
      <p:sp>
        <p:nvSpPr>
          <p:cNvPr id="9" name="Text 7"/>
          <p:cNvSpPr/>
          <p:nvPr/>
        </p:nvSpPr>
        <p:spPr>
          <a:xfrm>
            <a:off x="1197864" y="14630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0" name="Text 8"/>
          <p:cNvSpPr/>
          <p:nvPr/>
        </p:nvSpPr>
        <p:spPr>
          <a:xfrm>
            <a:off x="1097280" y="2029968"/>
            <a:ext cx="64008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548640" y="2743200"/>
            <a:ext cx="1737360" cy="457200"/>
          </a:xfrm>
          <a:prstGeom prst="rect">
            <a:avLst/>
          </a:prstGeom>
          <a:noFill/>
          <a:ln/>
        </p:spPr>
        <p:txBody>
          <a:bodyPr wrap="square" lIns="0" tIns="0" rIns="0" bIns="0" rtlCol="0" anchor="ctr"/>
          <a:lstStyle/>
          <a:p>
            <a:pPr algn="ctr" indent="0" marL="0">
              <a:buNone/>
            </a:pPr>
            <a:r>
              <a:rPr lang="en-US" sz="1200" b="1" dirty="0">
                <a:solidFill>
                  <a:srgbClr val="1E3A6E"/>
                </a:solidFill>
                <a:latin typeface="Calibri" pitchFamily="34" charset="0"/>
                <a:ea typeface="Calibri" pitchFamily="34" charset="-122"/>
                <a:cs typeface="Calibri" pitchFamily="34" charset="-120"/>
              </a:rPr>
              <a:t>登録単価表を選択</a:t>
            </a:r>
            <a:endParaRPr lang="en-US" sz="1200" dirty="0"/>
          </a:p>
        </p:txBody>
      </p:sp>
      <p:sp>
        <p:nvSpPr>
          <p:cNvPr id="12" name="Text 10"/>
          <p:cNvSpPr/>
          <p:nvPr/>
        </p:nvSpPr>
        <p:spPr>
          <a:xfrm>
            <a:off x="548640" y="3273552"/>
            <a:ext cx="1737360" cy="64008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見積フォームで「単価表から追加」</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セクションを開く</a:t>
            </a:r>
            <a:endParaRPr lang="en-US" sz="950" dirty="0"/>
          </a:p>
        </p:txBody>
      </p:sp>
      <p:sp>
        <p:nvSpPr>
          <p:cNvPr id="13" name="Text 11"/>
          <p:cNvSpPr/>
          <p:nvPr/>
        </p:nvSpPr>
        <p:spPr>
          <a:xfrm>
            <a:off x="2395728" y="2286000"/>
            <a:ext cx="228600" cy="45720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14" name="Shape 12"/>
          <p:cNvSpPr/>
          <p:nvPr/>
        </p:nvSpPr>
        <p:spPr>
          <a:xfrm>
            <a:off x="2606040" y="1325880"/>
            <a:ext cx="1920240" cy="320040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5" name="Shape 13"/>
          <p:cNvSpPr/>
          <p:nvPr/>
        </p:nvSpPr>
        <p:spPr>
          <a:xfrm>
            <a:off x="2606040" y="1325880"/>
            <a:ext cx="1920240" cy="45720"/>
          </a:xfrm>
          <a:prstGeom prst="rect">
            <a:avLst/>
          </a:prstGeom>
          <a:solidFill>
            <a:srgbClr val="D97706"/>
          </a:solidFill>
          <a:ln/>
        </p:spPr>
      </p:sp>
      <p:sp>
        <p:nvSpPr>
          <p:cNvPr id="16" name="Shape 14"/>
          <p:cNvSpPr/>
          <p:nvPr/>
        </p:nvSpPr>
        <p:spPr>
          <a:xfrm>
            <a:off x="3346704" y="1463040"/>
            <a:ext cx="438912" cy="438912"/>
          </a:xfrm>
          <a:prstGeom prst="ellipse">
            <a:avLst/>
          </a:prstGeom>
          <a:solidFill>
            <a:srgbClr val="D97706"/>
          </a:solidFill>
          <a:ln/>
        </p:spPr>
      </p:sp>
      <p:sp>
        <p:nvSpPr>
          <p:cNvPr id="17" name="Text 15"/>
          <p:cNvSpPr/>
          <p:nvPr/>
        </p:nvSpPr>
        <p:spPr>
          <a:xfrm>
            <a:off x="3346704" y="14630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8" name="Text 16"/>
          <p:cNvSpPr/>
          <p:nvPr/>
        </p:nvSpPr>
        <p:spPr>
          <a:xfrm>
            <a:off x="3246120" y="2029968"/>
            <a:ext cx="64008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2697480" y="2743200"/>
            <a:ext cx="1737360" cy="457200"/>
          </a:xfrm>
          <a:prstGeom prst="rect">
            <a:avLst/>
          </a:prstGeom>
          <a:noFill/>
          <a:ln/>
        </p:spPr>
        <p:txBody>
          <a:bodyPr wrap="square" lIns="0" tIns="0" rIns="0" bIns="0" rtlCol="0" anchor="ctr"/>
          <a:lstStyle/>
          <a:p>
            <a:pPr algn="ctr" indent="0" marL="0">
              <a:buNone/>
            </a:pPr>
            <a:r>
              <a:rPr lang="en-US" sz="1200" b="1" dirty="0">
                <a:solidFill>
                  <a:srgbClr val="1E3A6E"/>
                </a:solidFill>
                <a:latin typeface="Calibri" pitchFamily="34" charset="0"/>
                <a:ea typeface="Calibri" pitchFamily="34" charset="-122"/>
                <a:cs typeface="Calibri" pitchFamily="34" charset="-120"/>
              </a:rPr>
              <a:t>単価表を選ぶ</a:t>
            </a:r>
            <a:endParaRPr lang="en-US" sz="1200" dirty="0"/>
          </a:p>
        </p:txBody>
      </p:sp>
      <p:sp>
        <p:nvSpPr>
          <p:cNvPr id="20" name="Text 18"/>
          <p:cNvSpPr/>
          <p:nvPr/>
        </p:nvSpPr>
        <p:spPr>
          <a:xfrm>
            <a:off x="2697480" y="3273552"/>
            <a:ext cx="1737360" cy="64008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使いたい単価表を</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ドロップダウンから選択</a:t>
            </a:r>
            <a:endParaRPr lang="en-US" sz="950" dirty="0"/>
          </a:p>
        </p:txBody>
      </p:sp>
      <p:sp>
        <p:nvSpPr>
          <p:cNvPr id="21" name="Text 19"/>
          <p:cNvSpPr/>
          <p:nvPr/>
        </p:nvSpPr>
        <p:spPr>
          <a:xfrm>
            <a:off x="4544568" y="2286000"/>
            <a:ext cx="228600" cy="45720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22" name="Shape 20"/>
          <p:cNvSpPr/>
          <p:nvPr/>
        </p:nvSpPr>
        <p:spPr>
          <a:xfrm>
            <a:off x="4754880" y="1325880"/>
            <a:ext cx="1920240" cy="320040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4754880" y="1325880"/>
            <a:ext cx="1920240" cy="45720"/>
          </a:xfrm>
          <a:prstGeom prst="rect">
            <a:avLst/>
          </a:prstGeom>
          <a:solidFill>
            <a:srgbClr val="D97706"/>
          </a:solidFill>
          <a:ln/>
        </p:spPr>
      </p:sp>
      <p:sp>
        <p:nvSpPr>
          <p:cNvPr id="24" name="Shape 22"/>
          <p:cNvSpPr/>
          <p:nvPr/>
        </p:nvSpPr>
        <p:spPr>
          <a:xfrm>
            <a:off x="5495544" y="1463040"/>
            <a:ext cx="438912" cy="438912"/>
          </a:xfrm>
          <a:prstGeom prst="ellipse">
            <a:avLst/>
          </a:prstGeom>
          <a:solidFill>
            <a:srgbClr val="D97706"/>
          </a:solidFill>
          <a:ln/>
        </p:spPr>
      </p:sp>
      <p:sp>
        <p:nvSpPr>
          <p:cNvPr id="25" name="Text 23"/>
          <p:cNvSpPr/>
          <p:nvPr/>
        </p:nvSpPr>
        <p:spPr>
          <a:xfrm>
            <a:off x="5495544" y="14630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6" name="Text 24"/>
          <p:cNvSpPr/>
          <p:nvPr/>
        </p:nvSpPr>
        <p:spPr>
          <a:xfrm>
            <a:off x="5394960" y="2029968"/>
            <a:ext cx="64008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7" name="Text 25"/>
          <p:cNvSpPr/>
          <p:nvPr/>
        </p:nvSpPr>
        <p:spPr>
          <a:xfrm>
            <a:off x="4846320" y="2743200"/>
            <a:ext cx="1737360" cy="457200"/>
          </a:xfrm>
          <a:prstGeom prst="rect">
            <a:avLst/>
          </a:prstGeom>
          <a:noFill/>
          <a:ln/>
        </p:spPr>
        <p:txBody>
          <a:bodyPr wrap="square" lIns="0" tIns="0" rIns="0" bIns="0" rtlCol="0" anchor="ctr"/>
          <a:lstStyle/>
          <a:p>
            <a:pPr algn="ctr" indent="0" marL="0">
              <a:buNone/>
            </a:pPr>
            <a:r>
              <a:rPr lang="en-US" sz="1200" b="1" dirty="0">
                <a:solidFill>
                  <a:srgbClr val="1E3A6E"/>
                </a:solidFill>
                <a:latin typeface="Calibri" pitchFamily="34" charset="0"/>
                <a:ea typeface="Calibri" pitchFamily="34" charset="-122"/>
                <a:cs typeface="Calibri" pitchFamily="34" charset="-120"/>
              </a:rPr>
              <a:t>品目にチェック</a:t>
            </a:r>
            <a:endParaRPr lang="en-US" sz="1200" dirty="0"/>
          </a:p>
        </p:txBody>
      </p:sp>
      <p:sp>
        <p:nvSpPr>
          <p:cNvPr id="28" name="Text 26"/>
          <p:cNvSpPr/>
          <p:nvPr/>
        </p:nvSpPr>
        <p:spPr>
          <a:xfrm>
            <a:off x="4846320" y="3273552"/>
            <a:ext cx="1737360" cy="64008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追加したい品目の</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チェックボックスを選択</a:t>
            </a:r>
            <a:endParaRPr lang="en-US" sz="950" dirty="0"/>
          </a:p>
        </p:txBody>
      </p:sp>
      <p:sp>
        <p:nvSpPr>
          <p:cNvPr id="29" name="Text 27"/>
          <p:cNvSpPr/>
          <p:nvPr/>
        </p:nvSpPr>
        <p:spPr>
          <a:xfrm>
            <a:off x="6693408" y="2286000"/>
            <a:ext cx="228600" cy="45720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30" name="Shape 28"/>
          <p:cNvSpPr/>
          <p:nvPr/>
        </p:nvSpPr>
        <p:spPr>
          <a:xfrm>
            <a:off x="6903720" y="1325880"/>
            <a:ext cx="1920240" cy="320040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1" name="Shape 29"/>
          <p:cNvSpPr/>
          <p:nvPr/>
        </p:nvSpPr>
        <p:spPr>
          <a:xfrm>
            <a:off x="6903720" y="1325880"/>
            <a:ext cx="1920240" cy="45720"/>
          </a:xfrm>
          <a:prstGeom prst="rect">
            <a:avLst/>
          </a:prstGeom>
          <a:solidFill>
            <a:srgbClr val="D97706"/>
          </a:solidFill>
          <a:ln/>
        </p:spPr>
      </p:sp>
      <p:sp>
        <p:nvSpPr>
          <p:cNvPr id="32" name="Shape 30"/>
          <p:cNvSpPr/>
          <p:nvPr/>
        </p:nvSpPr>
        <p:spPr>
          <a:xfrm>
            <a:off x="7644384" y="1463040"/>
            <a:ext cx="438912" cy="438912"/>
          </a:xfrm>
          <a:prstGeom prst="ellipse">
            <a:avLst/>
          </a:prstGeom>
          <a:solidFill>
            <a:srgbClr val="D97706"/>
          </a:solidFill>
          <a:ln/>
        </p:spPr>
      </p:sp>
      <p:sp>
        <p:nvSpPr>
          <p:cNvPr id="33" name="Text 31"/>
          <p:cNvSpPr/>
          <p:nvPr/>
        </p:nvSpPr>
        <p:spPr>
          <a:xfrm>
            <a:off x="7644384" y="14630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4" name="Text 32"/>
          <p:cNvSpPr/>
          <p:nvPr/>
        </p:nvSpPr>
        <p:spPr>
          <a:xfrm>
            <a:off x="7543800" y="2029968"/>
            <a:ext cx="640080"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5" name="Text 33"/>
          <p:cNvSpPr/>
          <p:nvPr/>
        </p:nvSpPr>
        <p:spPr>
          <a:xfrm>
            <a:off x="6995160" y="2743200"/>
            <a:ext cx="1737360" cy="457200"/>
          </a:xfrm>
          <a:prstGeom prst="rect">
            <a:avLst/>
          </a:prstGeom>
          <a:noFill/>
          <a:ln/>
        </p:spPr>
        <p:txBody>
          <a:bodyPr wrap="square" lIns="0" tIns="0" rIns="0" bIns="0" rtlCol="0" anchor="ctr"/>
          <a:lstStyle/>
          <a:p>
            <a:pPr algn="ctr" indent="0" marL="0">
              <a:buNone/>
            </a:pPr>
            <a:r>
              <a:rPr lang="en-US" sz="1200" b="1" dirty="0">
                <a:solidFill>
                  <a:srgbClr val="1E3A6E"/>
                </a:solidFill>
                <a:latin typeface="Calibri" pitchFamily="34" charset="0"/>
                <a:ea typeface="Calibri" pitchFamily="34" charset="-122"/>
                <a:cs typeface="Calibri" pitchFamily="34" charset="-120"/>
              </a:rPr>
              <a:t>明細に追加</a:t>
            </a:r>
            <a:endParaRPr lang="en-US" sz="1200" dirty="0"/>
          </a:p>
        </p:txBody>
      </p:sp>
      <p:sp>
        <p:nvSpPr>
          <p:cNvPr id="36" name="Text 34"/>
          <p:cNvSpPr/>
          <p:nvPr/>
        </p:nvSpPr>
        <p:spPr>
          <a:xfrm>
            <a:off x="6995160" y="3273552"/>
            <a:ext cx="1737360" cy="64008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「選択した品目を追加」</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ボタンをクリック</a:t>
            </a:r>
            <a:endParaRPr lang="en-US" sz="950" dirty="0"/>
          </a:p>
        </p:txBody>
      </p:sp>
      <p:sp>
        <p:nvSpPr>
          <p:cNvPr id="37" name="Shape 35"/>
          <p:cNvSpPr/>
          <p:nvPr/>
        </p:nvSpPr>
        <p:spPr>
          <a:xfrm>
            <a:off x="457200" y="4617720"/>
            <a:ext cx="8229600" cy="530352"/>
          </a:xfrm>
          <a:prstGeom prst="rect">
            <a:avLst/>
          </a:prstGeom>
          <a:solidFill>
            <a:srgbClr val="EFF6FF"/>
          </a:solidFill>
          <a:ln w="12700">
            <a:solidFill>
              <a:srgbClr val="D97706"/>
            </a:solidFill>
            <a:prstDash val="solid"/>
          </a:ln>
        </p:spPr>
      </p:sp>
      <p:sp>
        <p:nvSpPr>
          <p:cNvPr id="38" name="Text 36"/>
          <p:cNvSpPr/>
          <p:nvPr/>
        </p:nvSpPr>
        <p:spPr>
          <a:xfrm>
            <a:off x="566928" y="4654296"/>
            <a:ext cx="804672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単価表の品目は「登録単価表」メニューから事前に登録・CSV取り込みができます。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059669"/>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04  見積の承認申請</a:t>
            </a:r>
            <a:endParaRPr lang="en-US" sz="2000" dirty="0"/>
          </a:p>
        </p:txBody>
      </p:sp>
      <p:sp>
        <p:nvSpPr>
          <p:cNvPr id="5" name="Shape 3"/>
          <p:cNvSpPr/>
          <p:nvPr/>
        </p:nvSpPr>
        <p:spPr>
          <a:xfrm>
            <a:off x="365760" y="896112"/>
            <a:ext cx="4114800" cy="868680"/>
          </a:xfrm>
          <a:prstGeom prst="rect">
            <a:avLst/>
          </a:prstGeom>
          <a:solidFill>
            <a:srgbClr val="EFF6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896112"/>
            <a:ext cx="54864" cy="868680"/>
          </a:xfrm>
          <a:prstGeom prst="rect">
            <a:avLst/>
          </a:prstGeom>
          <a:solidFill>
            <a:srgbClr val="059669"/>
          </a:solidFill>
          <a:ln/>
        </p:spPr>
      </p:sp>
      <p:sp>
        <p:nvSpPr>
          <p:cNvPr id="7" name="Shape 5"/>
          <p:cNvSpPr/>
          <p:nvPr/>
        </p:nvSpPr>
        <p:spPr>
          <a:xfrm>
            <a:off x="521208" y="1133856"/>
            <a:ext cx="384048" cy="384048"/>
          </a:xfrm>
          <a:prstGeom prst="ellipse">
            <a:avLst/>
          </a:prstGeom>
          <a:solidFill>
            <a:srgbClr val="059669"/>
          </a:solidFill>
          <a:ln/>
        </p:spPr>
      </p:sp>
      <p:sp>
        <p:nvSpPr>
          <p:cNvPr id="8" name="Text 6"/>
          <p:cNvSpPr/>
          <p:nvPr/>
        </p:nvSpPr>
        <p:spPr>
          <a:xfrm>
            <a:off x="521208" y="1133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005840" y="987552"/>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見積一覧を開く</a:t>
            </a:r>
            <a:endParaRPr lang="en-US" sz="1300" dirty="0"/>
          </a:p>
        </p:txBody>
      </p:sp>
      <p:sp>
        <p:nvSpPr>
          <p:cNvPr id="10" name="Text 8"/>
          <p:cNvSpPr/>
          <p:nvPr/>
        </p:nvSpPr>
        <p:spPr>
          <a:xfrm>
            <a:off x="1005840" y="1335024"/>
            <a:ext cx="338328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サイドバーから「見積一覧」へ移動</a:t>
            </a:r>
            <a:endParaRPr lang="en-US" sz="1050" dirty="0"/>
          </a:p>
        </p:txBody>
      </p:sp>
      <p:sp>
        <p:nvSpPr>
          <p:cNvPr id="11" name="Shape 9"/>
          <p:cNvSpPr/>
          <p:nvPr/>
        </p:nvSpPr>
        <p:spPr>
          <a:xfrm>
            <a:off x="365760" y="1901952"/>
            <a:ext cx="4114800" cy="86868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2" name="Shape 10"/>
          <p:cNvSpPr/>
          <p:nvPr/>
        </p:nvSpPr>
        <p:spPr>
          <a:xfrm>
            <a:off x="365760" y="1901952"/>
            <a:ext cx="54864" cy="868680"/>
          </a:xfrm>
          <a:prstGeom prst="rect">
            <a:avLst/>
          </a:prstGeom>
          <a:solidFill>
            <a:srgbClr val="059669"/>
          </a:solidFill>
          <a:ln/>
        </p:spPr>
      </p:sp>
      <p:sp>
        <p:nvSpPr>
          <p:cNvPr id="13" name="Shape 11"/>
          <p:cNvSpPr/>
          <p:nvPr/>
        </p:nvSpPr>
        <p:spPr>
          <a:xfrm>
            <a:off x="521208" y="2139696"/>
            <a:ext cx="384048" cy="384048"/>
          </a:xfrm>
          <a:prstGeom prst="ellipse">
            <a:avLst/>
          </a:prstGeom>
          <a:solidFill>
            <a:srgbClr val="059669"/>
          </a:solidFill>
          <a:ln/>
        </p:spPr>
      </p:sp>
      <p:sp>
        <p:nvSpPr>
          <p:cNvPr id="14" name="Text 12"/>
          <p:cNvSpPr/>
          <p:nvPr/>
        </p:nvSpPr>
        <p:spPr>
          <a:xfrm>
            <a:off x="521208" y="2139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1005840" y="1993392"/>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対象見積を選択</a:t>
            </a:r>
            <a:endParaRPr lang="en-US" sz="1300" dirty="0"/>
          </a:p>
        </p:txBody>
      </p:sp>
      <p:sp>
        <p:nvSpPr>
          <p:cNvPr id="16" name="Text 14"/>
          <p:cNvSpPr/>
          <p:nvPr/>
        </p:nvSpPr>
        <p:spPr>
          <a:xfrm>
            <a:off x="1005840" y="2340864"/>
            <a:ext cx="338328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承認を申請したい見積の行をクリック</a:t>
            </a:r>
            <a:endParaRPr lang="en-US" sz="1050" dirty="0"/>
          </a:p>
        </p:txBody>
      </p:sp>
      <p:sp>
        <p:nvSpPr>
          <p:cNvPr id="17" name="Shape 15"/>
          <p:cNvSpPr/>
          <p:nvPr/>
        </p:nvSpPr>
        <p:spPr>
          <a:xfrm>
            <a:off x="365760" y="2907792"/>
            <a:ext cx="4114800" cy="868680"/>
          </a:xfrm>
          <a:prstGeom prst="rect">
            <a:avLst/>
          </a:prstGeom>
          <a:solidFill>
            <a:srgbClr val="EFF6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8" name="Shape 16"/>
          <p:cNvSpPr/>
          <p:nvPr/>
        </p:nvSpPr>
        <p:spPr>
          <a:xfrm>
            <a:off x="365760" y="2907792"/>
            <a:ext cx="54864" cy="868680"/>
          </a:xfrm>
          <a:prstGeom prst="rect">
            <a:avLst/>
          </a:prstGeom>
          <a:solidFill>
            <a:srgbClr val="059669"/>
          </a:solidFill>
          <a:ln/>
        </p:spPr>
      </p:sp>
      <p:sp>
        <p:nvSpPr>
          <p:cNvPr id="19" name="Shape 17"/>
          <p:cNvSpPr/>
          <p:nvPr/>
        </p:nvSpPr>
        <p:spPr>
          <a:xfrm>
            <a:off x="521208" y="3145536"/>
            <a:ext cx="384048" cy="384048"/>
          </a:xfrm>
          <a:prstGeom prst="ellipse">
            <a:avLst/>
          </a:prstGeom>
          <a:solidFill>
            <a:srgbClr val="059669"/>
          </a:solidFill>
          <a:ln/>
        </p:spPr>
      </p:sp>
      <p:sp>
        <p:nvSpPr>
          <p:cNvPr id="20" name="Text 18"/>
          <p:cNvSpPr/>
          <p:nvPr/>
        </p:nvSpPr>
        <p:spPr>
          <a:xfrm>
            <a:off x="521208" y="3145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1" name="Text 19"/>
          <p:cNvSpPr/>
          <p:nvPr/>
        </p:nvSpPr>
        <p:spPr>
          <a:xfrm>
            <a:off x="1005840" y="2999232"/>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「承認申請」ボタン</a:t>
            </a:r>
            <a:endParaRPr lang="en-US" sz="1300" dirty="0"/>
          </a:p>
        </p:txBody>
      </p:sp>
      <p:sp>
        <p:nvSpPr>
          <p:cNvPr id="22" name="Text 20"/>
          <p:cNvSpPr/>
          <p:nvPr/>
        </p:nvSpPr>
        <p:spPr>
          <a:xfrm>
            <a:off x="1005840" y="3346704"/>
            <a:ext cx="338328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詳細画面の「承認申請」ボタンをクリック</a:t>
            </a:r>
            <a:endParaRPr lang="en-US" sz="1050" dirty="0"/>
          </a:p>
        </p:txBody>
      </p:sp>
      <p:sp>
        <p:nvSpPr>
          <p:cNvPr id="23" name="Shape 21"/>
          <p:cNvSpPr/>
          <p:nvPr/>
        </p:nvSpPr>
        <p:spPr>
          <a:xfrm>
            <a:off x="365760" y="3913632"/>
            <a:ext cx="4114800" cy="86868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365760" y="3913632"/>
            <a:ext cx="54864" cy="868680"/>
          </a:xfrm>
          <a:prstGeom prst="rect">
            <a:avLst/>
          </a:prstGeom>
          <a:solidFill>
            <a:srgbClr val="059669"/>
          </a:solidFill>
          <a:ln/>
        </p:spPr>
      </p:sp>
      <p:sp>
        <p:nvSpPr>
          <p:cNvPr id="25" name="Shape 23"/>
          <p:cNvSpPr/>
          <p:nvPr/>
        </p:nvSpPr>
        <p:spPr>
          <a:xfrm>
            <a:off x="521208" y="4151376"/>
            <a:ext cx="384048" cy="384048"/>
          </a:xfrm>
          <a:prstGeom prst="ellipse">
            <a:avLst/>
          </a:prstGeom>
          <a:solidFill>
            <a:srgbClr val="059669"/>
          </a:solidFill>
          <a:ln/>
        </p:spPr>
      </p:sp>
      <p:sp>
        <p:nvSpPr>
          <p:cNvPr id="26" name="Text 24"/>
          <p:cNvSpPr/>
          <p:nvPr/>
        </p:nvSpPr>
        <p:spPr>
          <a:xfrm>
            <a:off x="521208" y="41513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7" name="Text 25"/>
          <p:cNvSpPr/>
          <p:nvPr/>
        </p:nvSpPr>
        <p:spPr>
          <a:xfrm>
            <a:off x="1005840" y="4005072"/>
            <a:ext cx="3383280" cy="320040"/>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承認者のメールを入力</a:t>
            </a:r>
            <a:endParaRPr lang="en-US" sz="1300" dirty="0"/>
          </a:p>
        </p:txBody>
      </p:sp>
      <p:sp>
        <p:nvSpPr>
          <p:cNvPr id="28" name="Text 26"/>
          <p:cNvSpPr/>
          <p:nvPr/>
        </p:nvSpPr>
        <p:spPr>
          <a:xfrm>
            <a:off x="1005840" y="4352544"/>
            <a:ext cx="3383280" cy="347472"/>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承認者のメールアドレスを入力して送信</a:t>
            </a:r>
            <a:endParaRPr lang="en-US" sz="1050" dirty="0"/>
          </a:p>
        </p:txBody>
      </p:sp>
      <p:sp>
        <p:nvSpPr>
          <p:cNvPr id="29" name="Shape 27"/>
          <p:cNvSpPr/>
          <p:nvPr/>
        </p:nvSpPr>
        <p:spPr>
          <a:xfrm>
            <a:off x="4846320" y="822960"/>
            <a:ext cx="3840480" cy="4160520"/>
          </a:xfrm>
          <a:prstGeom prst="rect">
            <a:avLst/>
          </a:prstGeom>
          <a:solidFill>
            <a:srgbClr val="EFF6FF"/>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30" name="Shape 28"/>
          <p:cNvSpPr/>
          <p:nvPr/>
        </p:nvSpPr>
        <p:spPr>
          <a:xfrm>
            <a:off x="4846320" y="822960"/>
            <a:ext cx="3840480" cy="384048"/>
          </a:xfrm>
          <a:prstGeom prst="rect">
            <a:avLst/>
          </a:prstGeom>
          <a:solidFill>
            <a:srgbClr val="059669"/>
          </a:solidFill>
          <a:ln/>
        </p:spPr>
      </p:sp>
      <p:sp>
        <p:nvSpPr>
          <p:cNvPr id="31" name="Text 29"/>
          <p:cNvSpPr/>
          <p:nvPr/>
        </p:nvSpPr>
        <p:spPr>
          <a:xfrm>
            <a:off x="4937760" y="850392"/>
            <a:ext cx="36576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承認ステータス</a:t>
            </a:r>
            <a:endParaRPr lang="en-US" sz="1300" dirty="0"/>
          </a:p>
        </p:txBody>
      </p:sp>
      <p:sp>
        <p:nvSpPr>
          <p:cNvPr id="32" name="Shape 30"/>
          <p:cNvSpPr/>
          <p:nvPr/>
        </p:nvSpPr>
        <p:spPr>
          <a:xfrm>
            <a:off x="5074920" y="1371600"/>
            <a:ext cx="3383280" cy="804672"/>
          </a:xfrm>
          <a:prstGeom prst="rect">
            <a:avLst/>
          </a:prstGeom>
          <a:solidFill>
            <a:srgbClr val="FFFFFF"/>
          </a:solidFill>
          <a:ln w="12700">
            <a:solidFill>
              <a:srgbClr val="D97706"/>
            </a:solidFill>
            <a:prstDash val="solid"/>
          </a:ln>
        </p:spPr>
      </p:sp>
      <p:sp>
        <p:nvSpPr>
          <p:cNvPr id="33" name="Shape 31"/>
          <p:cNvSpPr/>
          <p:nvPr/>
        </p:nvSpPr>
        <p:spPr>
          <a:xfrm>
            <a:off x="5074920" y="1371600"/>
            <a:ext cx="64008" cy="804672"/>
          </a:xfrm>
          <a:prstGeom prst="rect">
            <a:avLst/>
          </a:prstGeom>
          <a:solidFill>
            <a:srgbClr val="D97706"/>
          </a:solidFill>
          <a:ln/>
        </p:spPr>
      </p:sp>
      <p:sp>
        <p:nvSpPr>
          <p:cNvPr id="34" name="Text 32"/>
          <p:cNvSpPr/>
          <p:nvPr/>
        </p:nvSpPr>
        <p:spPr>
          <a:xfrm>
            <a:off x="5257800" y="1444752"/>
            <a:ext cx="3017520" cy="32004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申請中</a:t>
            </a:r>
            <a:endParaRPr lang="en-US" sz="1400" dirty="0"/>
          </a:p>
        </p:txBody>
      </p:sp>
      <p:sp>
        <p:nvSpPr>
          <p:cNvPr id="35" name="Text 33"/>
          <p:cNvSpPr/>
          <p:nvPr/>
        </p:nvSpPr>
        <p:spPr>
          <a:xfrm>
            <a:off x="5257800" y="1810512"/>
            <a:ext cx="301752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承認者にメール送信済み</a:t>
            </a:r>
            <a:endParaRPr lang="en-US" sz="1000" dirty="0"/>
          </a:p>
        </p:txBody>
      </p:sp>
      <p:sp>
        <p:nvSpPr>
          <p:cNvPr id="36" name="Shape 34"/>
          <p:cNvSpPr/>
          <p:nvPr/>
        </p:nvSpPr>
        <p:spPr>
          <a:xfrm>
            <a:off x="5074920" y="2468880"/>
            <a:ext cx="3383280" cy="804672"/>
          </a:xfrm>
          <a:prstGeom prst="rect">
            <a:avLst/>
          </a:prstGeom>
          <a:solidFill>
            <a:srgbClr val="FFFFFF"/>
          </a:solidFill>
          <a:ln w="12700">
            <a:solidFill>
              <a:srgbClr val="059669"/>
            </a:solidFill>
            <a:prstDash val="solid"/>
          </a:ln>
        </p:spPr>
      </p:sp>
      <p:sp>
        <p:nvSpPr>
          <p:cNvPr id="37" name="Shape 35"/>
          <p:cNvSpPr/>
          <p:nvPr/>
        </p:nvSpPr>
        <p:spPr>
          <a:xfrm>
            <a:off x="5074920" y="2468880"/>
            <a:ext cx="64008" cy="804672"/>
          </a:xfrm>
          <a:prstGeom prst="rect">
            <a:avLst/>
          </a:prstGeom>
          <a:solidFill>
            <a:srgbClr val="059669"/>
          </a:solidFill>
          <a:ln/>
        </p:spPr>
      </p:sp>
      <p:sp>
        <p:nvSpPr>
          <p:cNvPr id="38" name="Text 36"/>
          <p:cNvSpPr/>
          <p:nvPr/>
        </p:nvSpPr>
        <p:spPr>
          <a:xfrm>
            <a:off x="5257800" y="2542032"/>
            <a:ext cx="3017520" cy="320040"/>
          </a:xfrm>
          <a:prstGeom prst="rect">
            <a:avLst/>
          </a:prstGeom>
          <a:noFill/>
          <a:ln/>
        </p:spPr>
        <p:txBody>
          <a:bodyPr wrap="square" lIns="0" tIns="0" rIns="0" bIns="0"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承認済</a:t>
            </a:r>
            <a:endParaRPr lang="en-US" sz="1400" dirty="0"/>
          </a:p>
        </p:txBody>
      </p:sp>
      <p:sp>
        <p:nvSpPr>
          <p:cNvPr id="39" name="Text 37"/>
          <p:cNvSpPr/>
          <p:nvPr/>
        </p:nvSpPr>
        <p:spPr>
          <a:xfrm>
            <a:off x="5257800" y="2907792"/>
            <a:ext cx="301752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承認者が承認しました</a:t>
            </a:r>
            <a:endParaRPr lang="en-US" sz="1000" dirty="0"/>
          </a:p>
        </p:txBody>
      </p:sp>
      <p:sp>
        <p:nvSpPr>
          <p:cNvPr id="40" name="Shape 38"/>
          <p:cNvSpPr/>
          <p:nvPr/>
        </p:nvSpPr>
        <p:spPr>
          <a:xfrm>
            <a:off x="5074920" y="3566160"/>
            <a:ext cx="3383280" cy="804672"/>
          </a:xfrm>
          <a:prstGeom prst="rect">
            <a:avLst/>
          </a:prstGeom>
          <a:solidFill>
            <a:srgbClr val="FFFFFF"/>
          </a:solidFill>
          <a:ln w="12700">
            <a:solidFill>
              <a:srgbClr val="DC2626"/>
            </a:solidFill>
            <a:prstDash val="solid"/>
          </a:ln>
        </p:spPr>
      </p:sp>
      <p:sp>
        <p:nvSpPr>
          <p:cNvPr id="41" name="Shape 39"/>
          <p:cNvSpPr/>
          <p:nvPr/>
        </p:nvSpPr>
        <p:spPr>
          <a:xfrm>
            <a:off x="5074920" y="3566160"/>
            <a:ext cx="64008" cy="804672"/>
          </a:xfrm>
          <a:prstGeom prst="rect">
            <a:avLst/>
          </a:prstGeom>
          <a:solidFill>
            <a:srgbClr val="DC2626"/>
          </a:solidFill>
          <a:ln/>
        </p:spPr>
      </p:sp>
      <p:sp>
        <p:nvSpPr>
          <p:cNvPr id="42" name="Text 40"/>
          <p:cNvSpPr/>
          <p:nvPr/>
        </p:nvSpPr>
        <p:spPr>
          <a:xfrm>
            <a:off x="5257800" y="3639312"/>
            <a:ext cx="3017520" cy="320040"/>
          </a:xfrm>
          <a:prstGeom prst="rect">
            <a:avLst/>
          </a:prstGeom>
          <a:noFill/>
          <a:ln/>
        </p:spPr>
        <p:txBody>
          <a:bodyPr wrap="square" lIns="0" tIns="0" rIns="0" bIns="0"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差戻し</a:t>
            </a:r>
            <a:endParaRPr lang="en-US" sz="1400" dirty="0"/>
          </a:p>
        </p:txBody>
      </p:sp>
      <p:sp>
        <p:nvSpPr>
          <p:cNvPr id="43" name="Text 41"/>
          <p:cNvSpPr/>
          <p:nvPr/>
        </p:nvSpPr>
        <p:spPr>
          <a:xfrm>
            <a:off x="5257800" y="4005072"/>
            <a:ext cx="3017520" cy="29260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コメントを確認して修正</a:t>
            </a:r>
            <a:endParaRPr lang="en-US" sz="1000" dirty="0"/>
          </a:p>
        </p:txBody>
      </p:sp>
      <p:sp>
        <p:nvSpPr>
          <p:cNvPr id="44" name="Shape 42"/>
          <p:cNvSpPr/>
          <p:nvPr/>
        </p:nvSpPr>
        <p:spPr>
          <a:xfrm>
            <a:off x="365760" y="4636008"/>
            <a:ext cx="8412480" cy="530352"/>
          </a:xfrm>
          <a:prstGeom prst="rect">
            <a:avLst/>
          </a:prstGeom>
          <a:solidFill>
            <a:srgbClr val="EFF6FF"/>
          </a:solidFill>
          <a:ln w="12700">
            <a:solidFill>
              <a:srgbClr val="059669"/>
            </a:solidFill>
            <a:prstDash val="solid"/>
          </a:ln>
        </p:spPr>
      </p:sp>
      <p:sp>
        <p:nvSpPr>
          <p:cNvPr id="45" name="Text 43"/>
          <p:cNvSpPr/>
          <p:nvPr/>
        </p:nvSpPr>
        <p:spPr>
          <a:xfrm>
            <a:off x="475488" y="4672584"/>
            <a:ext cx="822960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承認者はアカウント不要。メールのリンクをクリックするだけで承認・差戻しができます。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059669"/>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05  承認者の操作（アカウント不要）</a:t>
            </a:r>
            <a:endParaRPr lang="en-US" sz="2000" dirty="0"/>
          </a:p>
        </p:txBody>
      </p:sp>
      <p:sp>
        <p:nvSpPr>
          <p:cNvPr id="5" name="Text 3"/>
          <p:cNvSpPr/>
          <p:nvPr/>
        </p:nvSpPr>
        <p:spPr>
          <a:xfrm>
            <a:off x="457200" y="786384"/>
            <a:ext cx="8229600" cy="34747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承認者はシステムへのログイン不要。届いたメールのリンクから操作できます。</a:t>
            </a:r>
            <a:endParaRPr lang="en-US" sz="1150" dirty="0"/>
          </a:p>
        </p:txBody>
      </p:sp>
      <p:sp>
        <p:nvSpPr>
          <p:cNvPr id="6" name="Shape 4"/>
          <p:cNvSpPr/>
          <p:nvPr/>
        </p:nvSpPr>
        <p:spPr>
          <a:xfrm>
            <a:off x="365760" y="1261872"/>
            <a:ext cx="1508760" cy="306324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365760" y="1261872"/>
            <a:ext cx="1508760" cy="45720"/>
          </a:xfrm>
          <a:prstGeom prst="rect">
            <a:avLst/>
          </a:prstGeom>
          <a:solidFill>
            <a:srgbClr val="2563EB"/>
          </a:solidFill>
          <a:ln/>
        </p:spPr>
      </p:sp>
      <p:sp>
        <p:nvSpPr>
          <p:cNvPr id="8" name="Text 6"/>
          <p:cNvSpPr/>
          <p:nvPr/>
        </p:nvSpPr>
        <p:spPr>
          <a:xfrm>
            <a:off x="877824" y="1417320"/>
            <a:ext cx="475488"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438912" y="2103120"/>
            <a:ext cx="1371600" cy="438912"/>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メールを受信</a:t>
            </a:r>
            <a:endParaRPr lang="en-US" sz="1150" dirty="0"/>
          </a:p>
        </p:txBody>
      </p:sp>
      <p:sp>
        <p:nvSpPr>
          <p:cNvPr id="10" name="Shape 8"/>
          <p:cNvSpPr/>
          <p:nvPr/>
        </p:nvSpPr>
        <p:spPr>
          <a:xfrm>
            <a:off x="685800" y="2578608"/>
            <a:ext cx="877824" cy="27432"/>
          </a:xfrm>
          <a:prstGeom prst="rect">
            <a:avLst/>
          </a:prstGeom>
          <a:solidFill>
            <a:srgbClr val="CBD5E1"/>
          </a:solidFill>
          <a:ln/>
        </p:spPr>
      </p:sp>
      <p:sp>
        <p:nvSpPr>
          <p:cNvPr id="11" name="Text 9"/>
          <p:cNvSpPr/>
          <p:nvPr/>
        </p:nvSpPr>
        <p:spPr>
          <a:xfrm>
            <a:off x="438912" y="2670048"/>
            <a:ext cx="137160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「承認依頼が届きました」</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というメールを確認</a:t>
            </a:r>
            <a:endParaRPr lang="en-US" sz="1000" dirty="0"/>
          </a:p>
        </p:txBody>
      </p:sp>
      <p:sp>
        <p:nvSpPr>
          <p:cNvPr id="12" name="Text 10"/>
          <p:cNvSpPr/>
          <p:nvPr/>
        </p:nvSpPr>
        <p:spPr>
          <a:xfrm>
            <a:off x="1892808" y="2267712"/>
            <a:ext cx="182880" cy="36576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13" name="Shape 11"/>
          <p:cNvSpPr/>
          <p:nvPr/>
        </p:nvSpPr>
        <p:spPr>
          <a:xfrm>
            <a:off x="2057400" y="1261872"/>
            <a:ext cx="1508760" cy="306324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4" name="Shape 12"/>
          <p:cNvSpPr/>
          <p:nvPr/>
        </p:nvSpPr>
        <p:spPr>
          <a:xfrm>
            <a:off x="2057400" y="1261872"/>
            <a:ext cx="1508760" cy="45720"/>
          </a:xfrm>
          <a:prstGeom prst="rect">
            <a:avLst/>
          </a:prstGeom>
          <a:solidFill>
            <a:srgbClr val="2563EB"/>
          </a:solidFill>
          <a:ln/>
        </p:spPr>
      </p:sp>
      <p:sp>
        <p:nvSpPr>
          <p:cNvPr id="15" name="Text 13"/>
          <p:cNvSpPr/>
          <p:nvPr/>
        </p:nvSpPr>
        <p:spPr>
          <a:xfrm>
            <a:off x="2569464" y="1417320"/>
            <a:ext cx="475488"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2130552" y="2103120"/>
            <a:ext cx="1371600" cy="438912"/>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リンクをクリック</a:t>
            </a:r>
            <a:endParaRPr lang="en-US" sz="1150" dirty="0"/>
          </a:p>
        </p:txBody>
      </p:sp>
      <p:sp>
        <p:nvSpPr>
          <p:cNvPr id="17" name="Shape 15"/>
          <p:cNvSpPr/>
          <p:nvPr/>
        </p:nvSpPr>
        <p:spPr>
          <a:xfrm>
            <a:off x="2377440" y="2578608"/>
            <a:ext cx="877824" cy="27432"/>
          </a:xfrm>
          <a:prstGeom prst="rect">
            <a:avLst/>
          </a:prstGeom>
          <a:solidFill>
            <a:srgbClr val="CBD5E1"/>
          </a:solidFill>
          <a:ln/>
        </p:spPr>
      </p:sp>
      <p:sp>
        <p:nvSpPr>
          <p:cNvPr id="18" name="Text 16"/>
          <p:cNvSpPr/>
          <p:nvPr/>
        </p:nvSpPr>
        <p:spPr>
          <a:xfrm>
            <a:off x="2130552" y="2670048"/>
            <a:ext cx="137160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メール内の「承認画面を</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開く」リンクをクリック</a:t>
            </a:r>
            <a:endParaRPr lang="en-US" sz="1000" dirty="0"/>
          </a:p>
        </p:txBody>
      </p:sp>
      <p:sp>
        <p:nvSpPr>
          <p:cNvPr id="19" name="Text 17"/>
          <p:cNvSpPr/>
          <p:nvPr/>
        </p:nvSpPr>
        <p:spPr>
          <a:xfrm>
            <a:off x="3584448" y="2267712"/>
            <a:ext cx="182880" cy="36576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20" name="Shape 18"/>
          <p:cNvSpPr/>
          <p:nvPr/>
        </p:nvSpPr>
        <p:spPr>
          <a:xfrm>
            <a:off x="3749040" y="1261872"/>
            <a:ext cx="1508760" cy="306324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1" name="Shape 19"/>
          <p:cNvSpPr/>
          <p:nvPr/>
        </p:nvSpPr>
        <p:spPr>
          <a:xfrm>
            <a:off x="3749040" y="1261872"/>
            <a:ext cx="1508760" cy="45720"/>
          </a:xfrm>
          <a:prstGeom prst="rect">
            <a:avLst/>
          </a:prstGeom>
          <a:solidFill>
            <a:srgbClr val="2563EB"/>
          </a:solidFill>
          <a:ln/>
        </p:spPr>
      </p:sp>
      <p:sp>
        <p:nvSpPr>
          <p:cNvPr id="22" name="Text 20"/>
          <p:cNvSpPr/>
          <p:nvPr/>
        </p:nvSpPr>
        <p:spPr>
          <a:xfrm>
            <a:off x="4261104" y="1417320"/>
            <a:ext cx="475488"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3" name="Text 21"/>
          <p:cNvSpPr/>
          <p:nvPr/>
        </p:nvSpPr>
        <p:spPr>
          <a:xfrm>
            <a:off x="3822192" y="2103120"/>
            <a:ext cx="1371600" cy="438912"/>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見積内容を確認</a:t>
            </a:r>
            <a:endParaRPr lang="en-US" sz="1150" dirty="0"/>
          </a:p>
        </p:txBody>
      </p:sp>
      <p:sp>
        <p:nvSpPr>
          <p:cNvPr id="24" name="Shape 22"/>
          <p:cNvSpPr/>
          <p:nvPr/>
        </p:nvSpPr>
        <p:spPr>
          <a:xfrm>
            <a:off x="4069080" y="2578608"/>
            <a:ext cx="877824" cy="27432"/>
          </a:xfrm>
          <a:prstGeom prst="rect">
            <a:avLst/>
          </a:prstGeom>
          <a:solidFill>
            <a:srgbClr val="CBD5E1"/>
          </a:solidFill>
          <a:ln/>
        </p:spPr>
      </p:sp>
      <p:sp>
        <p:nvSpPr>
          <p:cNvPr id="25" name="Text 23"/>
          <p:cNvSpPr/>
          <p:nvPr/>
        </p:nvSpPr>
        <p:spPr>
          <a:xfrm>
            <a:off x="3822192" y="2670048"/>
            <a:ext cx="137160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品目・金額・条件を</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ブラウザで確認</a:t>
            </a:r>
            <a:endParaRPr lang="en-US" sz="1000" dirty="0"/>
          </a:p>
        </p:txBody>
      </p:sp>
      <p:sp>
        <p:nvSpPr>
          <p:cNvPr id="26" name="Text 24"/>
          <p:cNvSpPr/>
          <p:nvPr/>
        </p:nvSpPr>
        <p:spPr>
          <a:xfrm>
            <a:off x="5276088" y="2267712"/>
            <a:ext cx="182880" cy="36576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27" name="Shape 25"/>
          <p:cNvSpPr/>
          <p:nvPr/>
        </p:nvSpPr>
        <p:spPr>
          <a:xfrm>
            <a:off x="5440680" y="1261872"/>
            <a:ext cx="1508760" cy="306324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5440680" y="1261872"/>
            <a:ext cx="1508760" cy="45720"/>
          </a:xfrm>
          <a:prstGeom prst="rect">
            <a:avLst/>
          </a:prstGeom>
          <a:solidFill>
            <a:srgbClr val="059669"/>
          </a:solidFill>
          <a:ln/>
        </p:spPr>
      </p:sp>
      <p:sp>
        <p:nvSpPr>
          <p:cNvPr id="29" name="Text 27"/>
          <p:cNvSpPr/>
          <p:nvPr/>
        </p:nvSpPr>
        <p:spPr>
          <a:xfrm>
            <a:off x="5952744" y="1417320"/>
            <a:ext cx="475488"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0" name="Text 28"/>
          <p:cNvSpPr/>
          <p:nvPr/>
        </p:nvSpPr>
        <p:spPr>
          <a:xfrm>
            <a:off x="5513832" y="2103120"/>
            <a:ext cx="1371600" cy="438912"/>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承認 or 差戻し</a:t>
            </a:r>
            <a:endParaRPr lang="en-US" sz="1150" dirty="0"/>
          </a:p>
        </p:txBody>
      </p:sp>
      <p:sp>
        <p:nvSpPr>
          <p:cNvPr id="31" name="Shape 29"/>
          <p:cNvSpPr/>
          <p:nvPr/>
        </p:nvSpPr>
        <p:spPr>
          <a:xfrm>
            <a:off x="5760720" y="2578608"/>
            <a:ext cx="877824" cy="27432"/>
          </a:xfrm>
          <a:prstGeom prst="rect">
            <a:avLst/>
          </a:prstGeom>
          <a:solidFill>
            <a:srgbClr val="CBD5E1"/>
          </a:solidFill>
          <a:ln/>
        </p:spPr>
      </p:sp>
      <p:sp>
        <p:nvSpPr>
          <p:cNvPr id="32" name="Text 30"/>
          <p:cNvSpPr/>
          <p:nvPr/>
        </p:nvSpPr>
        <p:spPr>
          <a:xfrm>
            <a:off x="5513832" y="2670048"/>
            <a:ext cx="137160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「承認する」または</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「差し戻す」を選択</a:t>
            </a:r>
            <a:endParaRPr lang="en-US" sz="1000" dirty="0"/>
          </a:p>
        </p:txBody>
      </p:sp>
      <p:sp>
        <p:nvSpPr>
          <p:cNvPr id="33" name="Text 31"/>
          <p:cNvSpPr/>
          <p:nvPr/>
        </p:nvSpPr>
        <p:spPr>
          <a:xfrm>
            <a:off x="6967728" y="2267712"/>
            <a:ext cx="182880" cy="365760"/>
          </a:xfrm>
          <a:prstGeom prst="rect">
            <a:avLst/>
          </a:prstGeom>
          <a:noFill/>
          <a:ln/>
        </p:spPr>
        <p:txBody>
          <a:bodyPr wrap="square" lIns="0" tIns="0" rIns="0" bIns="0" rtlCol="0" anchor="ctr"/>
          <a:lstStyle/>
          <a:p>
            <a:pPr algn="ctr" indent="0" marL="0">
              <a:buNone/>
            </a:pPr>
            <a:r>
              <a:rPr lang="en-US" sz="1400" dirty="0">
                <a:solidFill>
                  <a:srgbClr val="CBD5E1"/>
                </a:solidFill>
              </a:rPr>
              <a:t>▶</a:t>
            </a:r>
            <a:endParaRPr lang="en-US" sz="1400" dirty="0"/>
          </a:p>
        </p:txBody>
      </p:sp>
      <p:sp>
        <p:nvSpPr>
          <p:cNvPr id="34" name="Shape 32"/>
          <p:cNvSpPr/>
          <p:nvPr/>
        </p:nvSpPr>
        <p:spPr>
          <a:xfrm>
            <a:off x="7132320" y="1261872"/>
            <a:ext cx="1508760" cy="306324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5" name="Shape 33"/>
          <p:cNvSpPr/>
          <p:nvPr/>
        </p:nvSpPr>
        <p:spPr>
          <a:xfrm>
            <a:off x="7132320" y="1261872"/>
            <a:ext cx="1508760" cy="45720"/>
          </a:xfrm>
          <a:prstGeom prst="rect">
            <a:avLst/>
          </a:prstGeom>
          <a:solidFill>
            <a:srgbClr val="2563EB"/>
          </a:solidFill>
          <a:ln/>
        </p:spPr>
      </p:sp>
      <p:sp>
        <p:nvSpPr>
          <p:cNvPr id="36" name="Text 34"/>
          <p:cNvSpPr/>
          <p:nvPr/>
        </p:nvSpPr>
        <p:spPr>
          <a:xfrm>
            <a:off x="7644384" y="1417320"/>
            <a:ext cx="475488" cy="59436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7" name="Text 35"/>
          <p:cNvSpPr/>
          <p:nvPr/>
        </p:nvSpPr>
        <p:spPr>
          <a:xfrm>
            <a:off x="7205472" y="2103120"/>
            <a:ext cx="1371600" cy="438912"/>
          </a:xfrm>
          <a:prstGeom prst="rect">
            <a:avLst/>
          </a:prstGeom>
          <a:noFill/>
          <a:ln/>
        </p:spPr>
        <p:txBody>
          <a:bodyPr wrap="square" lIns="0" tIns="0" rIns="0" bIns="0" rtlCol="0" anchor="ctr"/>
          <a:lstStyle/>
          <a:p>
            <a:pPr algn="ctr" indent="0" marL="0">
              <a:buNone/>
            </a:pPr>
            <a:r>
              <a:rPr lang="en-US" sz="1150" b="1" dirty="0">
                <a:solidFill>
                  <a:srgbClr val="1E3A6E"/>
                </a:solidFill>
                <a:latin typeface="Calibri" pitchFamily="34" charset="0"/>
                <a:ea typeface="Calibri" pitchFamily="34" charset="-122"/>
                <a:cs typeface="Calibri" pitchFamily="34" charset="-120"/>
              </a:rPr>
              <a:t>申請者へ通知</a:t>
            </a:r>
            <a:endParaRPr lang="en-US" sz="1150" dirty="0"/>
          </a:p>
        </p:txBody>
      </p:sp>
      <p:sp>
        <p:nvSpPr>
          <p:cNvPr id="38" name="Shape 36"/>
          <p:cNvSpPr/>
          <p:nvPr/>
        </p:nvSpPr>
        <p:spPr>
          <a:xfrm>
            <a:off x="7452360" y="2578608"/>
            <a:ext cx="877824" cy="27432"/>
          </a:xfrm>
          <a:prstGeom prst="rect">
            <a:avLst/>
          </a:prstGeom>
          <a:solidFill>
            <a:srgbClr val="CBD5E1"/>
          </a:solidFill>
          <a:ln/>
        </p:spPr>
      </p:sp>
      <p:sp>
        <p:nvSpPr>
          <p:cNvPr id="39" name="Text 37"/>
          <p:cNvSpPr/>
          <p:nvPr/>
        </p:nvSpPr>
        <p:spPr>
          <a:xfrm>
            <a:off x="7205472" y="2670048"/>
            <a:ext cx="1371600" cy="64008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選択内容が自動で</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申請者にメール送信</a:t>
            </a:r>
            <a:endParaRPr lang="en-US" sz="1000" dirty="0"/>
          </a:p>
        </p:txBody>
      </p:sp>
      <p:sp>
        <p:nvSpPr>
          <p:cNvPr id="40" name="Shape 38"/>
          <p:cNvSpPr/>
          <p:nvPr/>
        </p:nvSpPr>
        <p:spPr>
          <a:xfrm>
            <a:off x="2560320" y="4434840"/>
            <a:ext cx="1828800" cy="475488"/>
          </a:xfrm>
          <a:prstGeom prst="rect">
            <a:avLst/>
          </a:prstGeom>
          <a:solidFill>
            <a:srgbClr val="059669"/>
          </a:solidFill>
          <a:ln w="12700">
            <a:solidFill>
              <a:srgbClr val="059669"/>
            </a:solidFill>
            <a:prstDash val="solid"/>
          </a:ln>
          <a:effectLst>
            <a:outerShdw sx="100000" sy="100000" kx="0" ky="0" algn="bl" rotWithShape="0" blurRad="76200" dist="25400" dir="8100000">
              <a:srgbClr val="000000">
                <a:alpha val="12000"/>
              </a:srgbClr>
            </a:outerShdw>
          </a:effectLst>
        </p:spPr>
      </p:sp>
      <p:sp>
        <p:nvSpPr>
          <p:cNvPr id="41" name="Text 39"/>
          <p:cNvSpPr/>
          <p:nvPr/>
        </p:nvSpPr>
        <p:spPr>
          <a:xfrm>
            <a:off x="2560320" y="4462272"/>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承認する</a:t>
            </a:r>
            <a:endParaRPr lang="en-US" sz="1300" dirty="0"/>
          </a:p>
        </p:txBody>
      </p:sp>
      <p:sp>
        <p:nvSpPr>
          <p:cNvPr id="42" name="Shape 40"/>
          <p:cNvSpPr/>
          <p:nvPr/>
        </p:nvSpPr>
        <p:spPr>
          <a:xfrm>
            <a:off x="4754880" y="4434840"/>
            <a:ext cx="1828800" cy="475488"/>
          </a:xfrm>
          <a:prstGeom prst="rect">
            <a:avLst/>
          </a:prstGeom>
          <a:solidFill>
            <a:srgbClr val="FFFFFF"/>
          </a:solidFill>
          <a:ln w="19050">
            <a:solidFill>
              <a:srgbClr val="DC2626"/>
            </a:solidFill>
            <a:prstDash val="solid"/>
          </a:ln>
          <a:effectLst>
            <a:outerShdw sx="100000" sy="100000" kx="0" ky="0" algn="bl" rotWithShape="0" blurRad="76200" dist="25400" dir="8100000">
              <a:srgbClr val="000000">
                <a:alpha val="12000"/>
              </a:srgbClr>
            </a:outerShdw>
          </a:effectLst>
        </p:spPr>
      </p:sp>
      <p:sp>
        <p:nvSpPr>
          <p:cNvPr id="43" name="Text 41"/>
          <p:cNvSpPr/>
          <p:nvPr/>
        </p:nvSpPr>
        <p:spPr>
          <a:xfrm>
            <a:off x="4754880" y="4462272"/>
            <a:ext cx="1828800" cy="411480"/>
          </a:xfrm>
          <a:prstGeom prst="rect">
            <a:avLst/>
          </a:prstGeom>
          <a:noFill/>
          <a:ln/>
        </p:spPr>
        <p:txBody>
          <a:bodyPr wrap="square" lIns="0" tIns="0" rIns="0" bIns="0" rtlCol="0" anchor="ctr"/>
          <a:lstStyle/>
          <a:p>
            <a:pPr algn="ctr" indent="0" marL="0">
              <a:buNone/>
            </a:pPr>
            <a:r>
              <a:rPr lang="en-US" sz="1300" b="1" dirty="0">
                <a:solidFill>
                  <a:srgbClr val="DC2626"/>
                </a:solidFill>
                <a:latin typeface="Calibri" pitchFamily="34" charset="0"/>
                <a:ea typeface="Calibri" pitchFamily="34" charset="-122"/>
                <a:cs typeface="Calibri" pitchFamily="34" charset="-120"/>
              </a:rPr>
              <a:t>↩  差し戻す</a:t>
            </a:r>
            <a:endParaRPr lang="en-US" sz="1300" dirty="0"/>
          </a:p>
        </p:txBody>
      </p:sp>
      <p:sp>
        <p:nvSpPr>
          <p:cNvPr id="44" name="Text 42"/>
          <p:cNvSpPr/>
          <p:nvPr/>
        </p:nvSpPr>
        <p:spPr>
          <a:xfrm>
            <a:off x="6766560" y="4498848"/>
            <a:ext cx="2103120" cy="365760"/>
          </a:xfrm>
          <a:prstGeom prst="rect">
            <a:avLst/>
          </a:prstGeom>
          <a:noFill/>
          <a:ln/>
        </p:spPr>
        <p:txBody>
          <a:bodyPr wrap="square" lIns="0" tIns="0" rIns="0" bIns="0" rtlCol="0" anchor="ctr"/>
          <a:lstStyle/>
          <a:p>
            <a:pPr indent="0" marL="0">
              <a:buNone/>
            </a:pPr>
            <a:r>
              <a:rPr lang="en-US" sz="900" dirty="0">
                <a:solidFill>
                  <a:srgbClr val="64748B"/>
                </a:solidFill>
              </a:rPr>
              <a:t>← 承認画面のボタンイメージ</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2563EB"/>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見積書の印刷</a:t>
            </a:r>
            <a:endParaRPr lang="en-US" sz="2000" dirty="0"/>
          </a:p>
        </p:txBody>
      </p:sp>
      <p:sp>
        <p:nvSpPr>
          <p:cNvPr id="5" name="Shape 3"/>
          <p:cNvSpPr/>
          <p:nvPr/>
        </p:nvSpPr>
        <p:spPr>
          <a:xfrm>
            <a:off x="457200" y="914400"/>
            <a:ext cx="1874520" cy="169164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457200" y="914400"/>
            <a:ext cx="1874520" cy="36576"/>
          </a:xfrm>
          <a:prstGeom prst="rect">
            <a:avLst/>
          </a:prstGeom>
          <a:solidFill>
            <a:srgbClr val="2563EB"/>
          </a:solidFill>
          <a:ln/>
        </p:spPr>
      </p:sp>
      <p:sp>
        <p:nvSpPr>
          <p:cNvPr id="7" name="Shape 5"/>
          <p:cNvSpPr/>
          <p:nvPr/>
        </p:nvSpPr>
        <p:spPr>
          <a:xfrm>
            <a:off x="256032" y="1051560"/>
            <a:ext cx="384048" cy="384048"/>
          </a:xfrm>
          <a:prstGeom prst="ellipse">
            <a:avLst/>
          </a:prstGeom>
          <a:solidFill>
            <a:srgbClr val="2563EB"/>
          </a:solidFill>
          <a:ln w="19050">
            <a:solidFill>
              <a:srgbClr val="FFFFFF"/>
            </a:solidFill>
            <a:prstDash val="solid"/>
          </a:ln>
        </p:spPr>
      </p:sp>
      <p:sp>
        <p:nvSpPr>
          <p:cNvPr id="8" name="Text 6"/>
          <p:cNvSpPr/>
          <p:nvPr/>
        </p:nvSpPr>
        <p:spPr>
          <a:xfrm>
            <a:off x="256032" y="1051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548640" y="987552"/>
            <a:ext cx="1709928" cy="347472"/>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見積一覧へ</a:t>
            </a:r>
            <a:endParaRPr lang="en-US" sz="1300" dirty="0"/>
          </a:p>
        </p:txBody>
      </p:sp>
      <p:sp>
        <p:nvSpPr>
          <p:cNvPr id="10" name="Text 8"/>
          <p:cNvSpPr/>
          <p:nvPr/>
        </p:nvSpPr>
        <p:spPr>
          <a:xfrm>
            <a:off x="548640" y="1389888"/>
            <a:ext cx="1709928" cy="11247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対象の見積を見積一覧</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から開く</a:t>
            </a:r>
            <a:endParaRPr lang="en-US" sz="1000" dirty="0"/>
          </a:p>
        </p:txBody>
      </p:sp>
      <p:sp>
        <p:nvSpPr>
          <p:cNvPr id="11" name="Text 9"/>
          <p:cNvSpPr/>
          <p:nvPr/>
        </p:nvSpPr>
        <p:spPr>
          <a:xfrm>
            <a:off x="2359152" y="1508760"/>
            <a:ext cx="219456" cy="457200"/>
          </a:xfrm>
          <a:prstGeom prst="rect">
            <a:avLst/>
          </a:prstGeom>
          <a:noFill/>
          <a:ln/>
        </p:spPr>
        <p:txBody>
          <a:bodyPr wrap="square" lIns="0" tIns="0" rIns="0" bIns="0" rtlCol="0" anchor="ctr"/>
          <a:lstStyle/>
          <a:p>
            <a:pPr algn="ctr" indent="0" marL="0">
              <a:buNone/>
            </a:pPr>
            <a:r>
              <a:rPr lang="en-US" sz="1500" dirty="0">
                <a:solidFill>
                  <a:srgbClr val="CBD5E1"/>
                </a:solidFill>
              </a:rPr>
              <a:t>▶</a:t>
            </a:r>
            <a:endParaRPr lang="en-US" sz="1500" dirty="0"/>
          </a:p>
        </p:txBody>
      </p:sp>
      <p:sp>
        <p:nvSpPr>
          <p:cNvPr id="12" name="Shape 10"/>
          <p:cNvSpPr/>
          <p:nvPr/>
        </p:nvSpPr>
        <p:spPr>
          <a:xfrm>
            <a:off x="2560320" y="914400"/>
            <a:ext cx="1874520" cy="169164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13" name="Shape 11"/>
          <p:cNvSpPr/>
          <p:nvPr/>
        </p:nvSpPr>
        <p:spPr>
          <a:xfrm>
            <a:off x="2560320" y="914400"/>
            <a:ext cx="1874520" cy="36576"/>
          </a:xfrm>
          <a:prstGeom prst="rect">
            <a:avLst/>
          </a:prstGeom>
          <a:solidFill>
            <a:srgbClr val="2563EB"/>
          </a:solidFill>
          <a:ln/>
        </p:spPr>
      </p:sp>
      <p:sp>
        <p:nvSpPr>
          <p:cNvPr id="14" name="Shape 12"/>
          <p:cNvSpPr/>
          <p:nvPr/>
        </p:nvSpPr>
        <p:spPr>
          <a:xfrm>
            <a:off x="2359152" y="1051560"/>
            <a:ext cx="384048" cy="384048"/>
          </a:xfrm>
          <a:prstGeom prst="ellipse">
            <a:avLst/>
          </a:prstGeom>
          <a:solidFill>
            <a:srgbClr val="2563EB"/>
          </a:solidFill>
          <a:ln w="19050">
            <a:solidFill>
              <a:srgbClr val="FFFFFF"/>
            </a:solidFill>
            <a:prstDash val="solid"/>
          </a:ln>
        </p:spPr>
      </p:sp>
      <p:sp>
        <p:nvSpPr>
          <p:cNvPr id="15" name="Text 13"/>
          <p:cNvSpPr/>
          <p:nvPr/>
        </p:nvSpPr>
        <p:spPr>
          <a:xfrm>
            <a:off x="2359152" y="1051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Text 14"/>
          <p:cNvSpPr/>
          <p:nvPr/>
        </p:nvSpPr>
        <p:spPr>
          <a:xfrm>
            <a:off x="2651760" y="987552"/>
            <a:ext cx="1709928" cy="347472"/>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印刷ボタン</a:t>
            </a:r>
            <a:endParaRPr lang="en-US" sz="1300" dirty="0"/>
          </a:p>
        </p:txBody>
      </p:sp>
      <p:sp>
        <p:nvSpPr>
          <p:cNvPr id="17" name="Text 15"/>
          <p:cNvSpPr/>
          <p:nvPr/>
        </p:nvSpPr>
        <p:spPr>
          <a:xfrm>
            <a:off x="2651760" y="1389888"/>
            <a:ext cx="1709928" cy="11247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詳細画面の「印刷」</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ボタンをクリック</a:t>
            </a:r>
            <a:endParaRPr lang="en-US" sz="1000" dirty="0"/>
          </a:p>
        </p:txBody>
      </p:sp>
      <p:sp>
        <p:nvSpPr>
          <p:cNvPr id="18" name="Text 16"/>
          <p:cNvSpPr/>
          <p:nvPr/>
        </p:nvSpPr>
        <p:spPr>
          <a:xfrm>
            <a:off x="4462272" y="1508760"/>
            <a:ext cx="219456" cy="457200"/>
          </a:xfrm>
          <a:prstGeom prst="rect">
            <a:avLst/>
          </a:prstGeom>
          <a:noFill/>
          <a:ln/>
        </p:spPr>
        <p:txBody>
          <a:bodyPr wrap="square" lIns="0" tIns="0" rIns="0" bIns="0" rtlCol="0" anchor="ctr"/>
          <a:lstStyle/>
          <a:p>
            <a:pPr algn="ctr" indent="0" marL="0">
              <a:buNone/>
            </a:pPr>
            <a:r>
              <a:rPr lang="en-US" sz="1500" dirty="0">
                <a:solidFill>
                  <a:srgbClr val="CBD5E1"/>
                </a:solidFill>
              </a:rPr>
              <a:t>▶</a:t>
            </a:r>
            <a:endParaRPr lang="en-US" sz="1500" dirty="0"/>
          </a:p>
        </p:txBody>
      </p:sp>
      <p:sp>
        <p:nvSpPr>
          <p:cNvPr id="19" name="Shape 17"/>
          <p:cNvSpPr/>
          <p:nvPr/>
        </p:nvSpPr>
        <p:spPr>
          <a:xfrm>
            <a:off x="4663440" y="914400"/>
            <a:ext cx="1874520" cy="169164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4663440" y="914400"/>
            <a:ext cx="1874520" cy="36576"/>
          </a:xfrm>
          <a:prstGeom prst="rect">
            <a:avLst/>
          </a:prstGeom>
          <a:solidFill>
            <a:srgbClr val="2563EB"/>
          </a:solidFill>
          <a:ln/>
        </p:spPr>
      </p:sp>
      <p:sp>
        <p:nvSpPr>
          <p:cNvPr id="21" name="Shape 19"/>
          <p:cNvSpPr/>
          <p:nvPr/>
        </p:nvSpPr>
        <p:spPr>
          <a:xfrm>
            <a:off x="4462272" y="1051560"/>
            <a:ext cx="384048" cy="384048"/>
          </a:xfrm>
          <a:prstGeom prst="ellipse">
            <a:avLst/>
          </a:prstGeom>
          <a:solidFill>
            <a:srgbClr val="2563EB"/>
          </a:solidFill>
          <a:ln w="19050">
            <a:solidFill>
              <a:srgbClr val="FFFFFF"/>
            </a:solidFill>
            <a:prstDash val="solid"/>
          </a:ln>
        </p:spPr>
      </p:sp>
      <p:sp>
        <p:nvSpPr>
          <p:cNvPr id="22" name="Text 20"/>
          <p:cNvSpPr/>
          <p:nvPr/>
        </p:nvSpPr>
        <p:spPr>
          <a:xfrm>
            <a:off x="4462272" y="1051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Text 21"/>
          <p:cNvSpPr/>
          <p:nvPr/>
        </p:nvSpPr>
        <p:spPr>
          <a:xfrm>
            <a:off x="4754880" y="987552"/>
            <a:ext cx="1709928" cy="347472"/>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プレビュー確認</a:t>
            </a:r>
            <a:endParaRPr lang="en-US" sz="1300" dirty="0"/>
          </a:p>
        </p:txBody>
      </p:sp>
      <p:sp>
        <p:nvSpPr>
          <p:cNvPr id="24" name="Text 22"/>
          <p:cNvSpPr/>
          <p:nvPr/>
        </p:nvSpPr>
        <p:spPr>
          <a:xfrm>
            <a:off x="4754880" y="1389888"/>
            <a:ext cx="1709928" cy="11247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印刷プレビューで</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レイアウトを確認</a:t>
            </a:r>
            <a:endParaRPr lang="en-US" sz="1000" dirty="0"/>
          </a:p>
        </p:txBody>
      </p:sp>
      <p:sp>
        <p:nvSpPr>
          <p:cNvPr id="25" name="Text 23"/>
          <p:cNvSpPr/>
          <p:nvPr/>
        </p:nvSpPr>
        <p:spPr>
          <a:xfrm>
            <a:off x="6565392" y="1508760"/>
            <a:ext cx="219456" cy="457200"/>
          </a:xfrm>
          <a:prstGeom prst="rect">
            <a:avLst/>
          </a:prstGeom>
          <a:noFill/>
          <a:ln/>
        </p:spPr>
        <p:txBody>
          <a:bodyPr wrap="square" lIns="0" tIns="0" rIns="0" bIns="0" rtlCol="0" anchor="ctr"/>
          <a:lstStyle/>
          <a:p>
            <a:pPr algn="ctr" indent="0" marL="0">
              <a:buNone/>
            </a:pPr>
            <a:r>
              <a:rPr lang="en-US" sz="1500" dirty="0">
                <a:solidFill>
                  <a:srgbClr val="CBD5E1"/>
                </a:solidFill>
              </a:rPr>
              <a:t>▶</a:t>
            </a:r>
            <a:endParaRPr lang="en-US" sz="1500" dirty="0"/>
          </a:p>
        </p:txBody>
      </p:sp>
      <p:sp>
        <p:nvSpPr>
          <p:cNvPr id="26" name="Shape 24"/>
          <p:cNvSpPr/>
          <p:nvPr/>
        </p:nvSpPr>
        <p:spPr>
          <a:xfrm>
            <a:off x="6766560" y="914400"/>
            <a:ext cx="1874520" cy="1691640"/>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7" name="Shape 25"/>
          <p:cNvSpPr/>
          <p:nvPr/>
        </p:nvSpPr>
        <p:spPr>
          <a:xfrm>
            <a:off x="6766560" y="914400"/>
            <a:ext cx="1874520" cy="36576"/>
          </a:xfrm>
          <a:prstGeom prst="rect">
            <a:avLst/>
          </a:prstGeom>
          <a:solidFill>
            <a:srgbClr val="2563EB"/>
          </a:solidFill>
          <a:ln/>
        </p:spPr>
      </p:sp>
      <p:sp>
        <p:nvSpPr>
          <p:cNvPr id="28" name="Shape 26"/>
          <p:cNvSpPr/>
          <p:nvPr/>
        </p:nvSpPr>
        <p:spPr>
          <a:xfrm>
            <a:off x="6565392" y="1051560"/>
            <a:ext cx="384048" cy="384048"/>
          </a:xfrm>
          <a:prstGeom prst="ellipse">
            <a:avLst/>
          </a:prstGeom>
          <a:solidFill>
            <a:srgbClr val="2563EB"/>
          </a:solidFill>
          <a:ln w="19050">
            <a:solidFill>
              <a:srgbClr val="FFFFFF"/>
            </a:solidFill>
            <a:prstDash val="solid"/>
          </a:ln>
        </p:spPr>
      </p:sp>
      <p:sp>
        <p:nvSpPr>
          <p:cNvPr id="29" name="Text 27"/>
          <p:cNvSpPr/>
          <p:nvPr/>
        </p:nvSpPr>
        <p:spPr>
          <a:xfrm>
            <a:off x="6565392" y="1051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Text 28"/>
          <p:cNvSpPr/>
          <p:nvPr/>
        </p:nvSpPr>
        <p:spPr>
          <a:xfrm>
            <a:off x="6858000" y="987552"/>
            <a:ext cx="1709928" cy="347472"/>
          </a:xfrm>
          <a:prstGeom prst="rect">
            <a:avLst/>
          </a:prstGeom>
          <a:noFill/>
          <a:ln/>
        </p:spPr>
        <p:txBody>
          <a:bodyPr wrap="square" lIns="0" tIns="0" rIns="0" bIns="0" rtlCol="0" anchor="ctr"/>
          <a:lstStyle/>
          <a:p>
            <a:pPr indent="0" marL="0">
              <a:buNone/>
            </a:pPr>
            <a:r>
              <a:rPr lang="en-US" sz="1300" b="1" dirty="0">
                <a:solidFill>
                  <a:srgbClr val="1E3A6E"/>
                </a:solidFill>
                <a:latin typeface="Calibri" pitchFamily="34" charset="0"/>
                <a:ea typeface="Calibri" pitchFamily="34" charset="-122"/>
                <a:cs typeface="Calibri" pitchFamily="34" charset="-120"/>
              </a:rPr>
              <a:t>印刷・PDF保存</a:t>
            </a:r>
            <a:endParaRPr lang="en-US" sz="1300" dirty="0"/>
          </a:p>
        </p:txBody>
      </p:sp>
      <p:sp>
        <p:nvSpPr>
          <p:cNvPr id="31" name="Text 29"/>
          <p:cNvSpPr/>
          <p:nvPr/>
        </p:nvSpPr>
        <p:spPr>
          <a:xfrm>
            <a:off x="6858000" y="1389888"/>
            <a:ext cx="1709928" cy="112471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印刷 or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PDF保存を選択</a:t>
            </a:r>
            <a:endParaRPr lang="en-US" sz="1000" dirty="0"/>
          </a:p>
        </p:txBody>
      </p:sp>
      <p:sp>
        <p:nvSpPr>
          <p:cNvPr id="32" name="Shape 30"/>
          <p:cNvSpPr/>
          <p:nvPr/>
        </p:nvSpPr>
        <p:spPr>
          <a:xfrm>
            <a:off x="731520" y="2788920"/>
            <a:ext cx="7680960" cy="2194560"/>
          </a:xfrm>
          <a:prstGeom prst="rect">
            <a:avLst/>
          </a:prstGeom>
          <a:solidFill>
            <a:srgbClr val="F8FAFC"/>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33" name="Shape 31"/>
          <p:cNvSpPr/>
          <p:nvPr/>
        </p:nvSpPr>
        <p:spPr>
          <a:xfrm>
            <a:off x="731520" y="2788920"/>
            <a:ext cx="7680960" cy="329184"/>
          </a:xfrm>
          <a:prstGeom prst="rect">
            <a:avLst/>
          </a:prstGeom>
          <a:solidFill>
            <a:srgbClr val="E2E8F0"/>
          </a:solidFill>
          <a:ln/>
        </p:spPr>
      </p:sp>
      <p:sp>
        <p:nvSpPr>
          <p:cNvPr id="34" name="Text 32"/>
          <p:cNvSpPr/>
          <p:nvPr/>
        </p:nvSpPr>
        <p:spPr>
          <a:xfrm>
            <a:off x="822960" y="2816352"/>
            <a:ext cx="4572000" cy="274320"/>
          </a:xfrm>
          <a:prstGeom prst="rect">
            <a:avLst/>
          </a:prstGeom>
          <a:noFill/>
          <a:ln/>
        </p:spPr>
        <p:txBody>
          <a:bodyPr wrap="square" lIns="0" tIns="0" rIns="0" bIns="0" rtlCol="0" anchor="ctr"/>
          <a:lstStyle/>
          <a:p>
            <a:pPr indent="0" marL="0">
              <a:buNone/>
            </a:pPr>
            <a:r>
              <a:rPr lang="en-US" sz="900" dirty="0">
                <a:solidFill>
                  <a:srgbClr val="64748B"/>
                </a:solidFill>
              </a:rPr>
              <a:t>印刷プレビュー</a:t>
            </a:r>
            <a:endParaRPr lang="en-US" sz="900" dirty="0"/>
          </a:p>
        </p:txBody>
      </p:sp>
      <p:sp>
        <p:nvSpPr>
          <p:cNvPr id="35" name="Shape 33"/>
          <p:cNvSpPr/>
          <p:nvPr/>
        </p:nvSpPr>
        <p:spPr>
          <a:xfrm>
            <a:off x="1828800" y="3246120"/>
            <a:ext cx="5486400" cy="201168"/>
          </a:xfrm>
          <a:prstGeom prst="rect">
            <a:avLst/>
          </a:prstGeom>
          <a:solidFill>
            <a:srgbClr val="CBD5E1"/>
          </a:solidFill>
          <a:ln/>
        </p:spPr>
      </p:sp>
      <p:sp>
        <p:nvSpPr>
          <p:cNvPr id="36" name="Shape 34"/>
          <p:cNvSpPr/>
          <p:nvPr/>
        </p:nvSpPr>
        <p:spPr>
          <a:xfrm>
            <a:off x="1828800" y="3547872"/>
            <a:ext cx="5486400" cy="109728"/>
          </a:xfrm>
          <a:prstGeom prst="rect">
            <a:avLst/>
          </a:prstGeom>
          <a:solidFill>
            <a:srgbClr val="E2E8F0"/>
          </a:solidFill>
          <a:ln/>
        </p:spPr>
      </p:sp>
      <p:sp>
        <p:nvSpPr>
          <p:cNvPr id="37" name="Shape 35"/>
          <p:cNvSpPr/>
          <p:nvPr/>
        </p:nvSpPr>
        <p:spPr>
          <a:xfrm>
            <a:off x="1828800" y="3749040"/>
            <a:ext cx="5486400" cy="109728"/>
          </a:xfrm>
          <a:prstGeom prst="rect">
            <a:avLst/>
          </a:prstGeom>
          <a:solidFill>
            <a:srgbClr val="E2E8F0"/>
          </a:solidFill>
          <a:ln/>
        </p:spPr>
      </p:sp>
      <p:sp>
        <p:nvSpPr>
          <p:cNvPr id="38" name="Shape 36"/>
          <p:cNvSpPr/>
          <p:nvPr/>
        </p:nvSpPr>
        <p:spPr>
          <a:xfrm>
            <a:off x="1828800" y="3950208"/>
            <a:ext cx="5486400" cy="109728"/>
          </a:xfrm>
          <a:prstGeom prst="rect">
            <a:avLst/>
          </a:prstGeom>
          <a:solidFill>
            <a:srgbClr val="E2E8F0"/>
          </a:solidFill>
          <a:ln/>
        </p:spPr>
      </p:sp>
      <p:sp>
        <p:nvSpPr>
          <p:cNvPr id="39" name="Shape 37"/>
          <p:cNvSpPr/>
          <p:nvPr/>
        </p:nvSpPr>
        <p:spPr>
          <a:xfrm>
            <a:off x="1828800" y="4160520"/>
            <a:ext cx="3200400" cy="109728"/>
          </a:xfrm>
          <a:prstGeom prst="rect">
            <a:avLst/>
          </a:prstGeom>
          <a:solidFill>
            <a:srgbClr val="E2E8F0"/>
          </a:solidFill>
          <a:ln/>
        </p:spPr>
      </p:sp>
      <p:sp>
        <p:nvSpPr>
          <p:cNvPr id="40" name="Text 38"/>
          <p:cNvSpPr/>
          <p:nvPr/>
        </p:nvSpPr>
        <p:spPr>
          <a:xfrm>
            <a:off x="822960" y="3291840"/>
            <a:ext cx="1645920" cy="1005840"/>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会社ロゴ・連絡先・品名・仕様・金額・サイン が印刷されます</a:t>
            </a:r>
            <a:endParaRPr lang="en-US" sz="850" dirty="0"/>
          </a:p>
        </p:txBody>
      </p:sp>
      <p:sp>
        <p:nvSpPr>
          <p:cNvPr id="41" name="Shape 39"/>
          <p:cNvSpPr/>
          <p:nvPr/>
        </p:nvSpPr>
        <p:spPr>
          <a:xfrm>
            <a:off x="457200" y="4636008"/>
            <a:ext cx="8229600" cy="530352"/>
          </a:xfrm>
          <a:prstGeom prst="rect">
            <a:avLst/>
          </a:prstGeom>
          <a:solidFill>
            <a:srgbClr val="EFF6FF"/>
          </a:solidFill>
          <a:ln w="12700">
            <a:solidFill>
              <a:srgbClr val="0EA5E9"/>
            </a:solidFill>
            <a:prstDash val="solid"/>
          </a:ln>
        </p:spPr>
      </p:sp>
      <p:sp>
        <p:nvSpPr>
          <p:cNvPr id="42" name="Text 40"/>
          <p:cNvSpPr/>
          <p:nvPr/>
        </p:nvSpPr>
        <p:spPr>
          <a:xfrm>
            <a:off x="566928" y="4672584"/>
            <a:ext cx="804672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サイン欄には個人設定で登録したサイン画像が自動で表示されます。承認者のサインも反映されます。</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7C3AED"/>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07  顧客管理</a:t>
            </a:r>
            <a:endParaRPr lang="en-US" sz="2000" dirty="0"/>
          </a:p>
        </p:txBody>
      </p:sp>
      <p:sp>
        <p:nvSpPr>
          <p:cNvPr id="5" name="Shape 3"/>
          <p:cNvSpPr/>
          <p:nvPr/>
        </p:nvSpPr>
        <p:spPr>
          <a:xfrm>
            <a:off x="365760" y="804672"/>
            <a:ext cx="2606040" cy="406908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804672"/>
            <a:ext cx="2606040" cy="475488"/>
          </a:xfrm>
          <a:prstGeom prst="rect">
            <a:avLst/>
          </a:prstGeom>
          <a:solidFill>
            <a:srgbClr val="7C3AED"/>
          </a:solidFill>
          <a:ln/>
        </p:spPr>
      </p:sp>
      <p:sp>
        <p:nvSpPr>
          <p:cNvPr id="7" name="Text 5"/>
          <p:cNvSpPr/>
          <p:nvPr/>
        </p:nvSpPr>
        <p:spPr>
          <a:xfrm>
            <a:off x="457200" y="832104"/>
            <a:ext cx="242316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顧客を新規登録</a:t>
            </a:r>
            <a:endParaRPr lang="en-US" sz="1300" dirty="0"/>
          </a:p>
        </p:txBody>
      </p:sp>
      <p:sp>
        <p:nvSpPr>
          <p:cNvPr id="8" name="Shape 6"/>
          <p:cNvSpPr/>
          <p:nvPr/>
        </p:nvSpPr>
        <p:spPr>
          <a:xfrm>
            <a:off x="530352" y="1426464"/>
            <a:ext cx="256032" cy="256032"/>
          </a:xfrm>
          <a:prstGeom prst="ellipse">
            <a:avLst/>
          </a:prstGeom>
          <a:solidFill>
            <a:srgbClr val="7C3AED"/>
          </a:solidFill>
          <a:ln/>
        </p:spPr>
      </p:sp>
      <p:sp>
        <p:nvSpPr>
          <p:cNvPr id="9" name="Text 7"/>
          <p:cNvSpPr/>
          <p:nvPr/>
        </p:nvSpPr>
        <p:spPr>
          <a:xfrm>
            <a:off x="530352" y="14264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0" name="Text 8"/>
          <p:cNvSpPr/>
          <p:nvPr/>
        </p:nvSpPr>
        <p:spPr>
          <a:xfrm>
            <a:off x="868680" y="1417320"/>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「顧客管理」メニューをクリック</a:t>
            </a:r>
            <a:endParaRPr lang="en-US" sz="1050" dirty="0"/>
          </a:p>
        </p:txBody>
      </p:sp>
      <p:sp>
        <p:nvSpPr>
          <p:cNvPr id="11" name="Shape 9"/>
          <p:cNvSpPr/>
          <p:nvPr/>
        </p:nvSpPr>
        <p:spPr>
          <a:xfrm>
            <a:off x="530352" y="2139696"/>
            <a:ext cx="256032" cy="256032"/>
          </a:xfrm>
          <a:prstGeom prst="ellipse">
            <a:avLst/>
          </a:prstGeom>
          <a:solidFill>
            <a:srgbClr val="7C3AED"/>
          </a:solidFill>
          <a:ln/>
        </p:spPr>
      </p:sp>
      <p:sp>
        <p:nvSpPr>
          <p:cNvPr id="12" name="Text 10"/>
          <p:cNvSpPr/>
          <p:nvPr/>
        </p:nvSpPr>
        <p:spPr>
          <a:xfrm>
            <a:off x="530352" y="21396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3" name="Text 11"/>
          <p:cNvSpPr/>
          <p:nvPr/>
        </p:nvSpPr>
        <p:spPr>
          <a:xfrm>
            <a:off x="868680" y="2130552"/>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右上の「新規登録」ボタン</a:t>
            </a:r>
            <a:endParaRPr lang="en-US" sz="1050" dirty="0"/>
          </a:p>
        </p:txBody>
      </p:sp>
      <p:sp>
        <p:nvSpPr>
          <p:cNvPr id="14" name="Shape 12"/>
          <p:cNvSpPr/>
          <p:nvPr/>
        </p:nvSpPr>
        <p:spPr>
          <a:xfrm>
            <a:off x="530352" y="2852928"/>
            <a:ext cx="256032" cy="256032"/>
          </a:xfrm>
          <a:prstGeom prst="ellipse">
            <a:avLst/>
          </a:prstGeom>
          <a:solidFill>
            <a:srgbClr val="7C3AED"/>
          </a:solidFill>
          <a:ln/>
        </p:spPr>
      </p:sp>
      <p:sp>
        <p:nvSpPr>
          <p:cNvPr id="15" name="Text 13"/>
          <p:cNvSpPr/>
          <p:nvPr/>
        </p:nvSpPr>
        <p:spPr>
          <a:xfrm>
            <a:off x="530352" y="2852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868680" y="2843784"/>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会社名・担当者・電話・住所などを入力</a:t>
            </a:r>
            <a:endParaRPr lang="en-US" sz="1050" dirty="0"/>
          </a:p>
        </p:txBody>
      </p:sp>
      <p:sp>
        <p:nvSpPr>
          <p:cNvPr id="17" name="Shape 15"/>
          <p:cNvSpPr/>
          <p:nvPr/>
        </p:nvSpPr>
        <p:spPr>
          <a:xfrm>
            <a:off x="530352" y="3566160"/>
            <a:ext cx="256032" cy="256032"/>
          </a:xfrm>
          <a:prstGeom prst="ellipse">
            <a:avLst/>
          </a:prstGeom>
          <a:solidFill>
            <a:srgbClr val="7C3AED"/>
          </a:solidFill>
          <a:ln/>
        </p:spPr>
      </p:sp>
      <p:sp>
        <p:nvSpPr>
          <p:cNvPr id="18" name="Text 16"/>
          <p:cNvSpPr/>
          <p:nvPr/>
        </p:nvSpPr>
        <p:spPr>
          <a:xfrm>
            <a:off x="530352" y="35661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9" name="Text 17"/>
          <p:cNvSpPr/>
          <p:nvPr/>
        </p:nvSpPr>
        <p:spPr>
          <a:xfrm>
            <a:off x="868680" y="3557016"/>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「保存」ボタンをクリック</a:t>
            </a:r>
            <a:endParaRPr lang="en-US" sz="1050" dirty="0"/>
          </a:p>
        </p:txBody>
      </p:sp>
      <p:sp>
        <p:nvSpPr>
          <p:cNvPr id="20" name="Shape 18"/>
          <p:cNvSpPr/>
          <p:nvPr/>
        </p:nvSpPr>
        <p:spPr>
          <a:xfrm>
            <a:off x="3200400" y="804672"/>
            <a:ext cx="2606040" cy="406908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1" name="Shape 19"/>
          <p:cNvSpPr/>
          <p:nvPr/>
        </p:nvSpPr>
        <p:spPr>
          <a:xfrm>
            <a:off x="3200400" y="804672"/>
            <a:ext cx="2606040" cy="475488"/>
          </a:xfrm>
          <a:prstGeom prst="rect">
            <a:avLst/>
          </a:prstGeom>
          <a:solidFill>
            <a:srgbClr val="2563EB"/>
          </a:solidFill>
          <a:ln/>
        </p:spPr>
      </p:sp>
      <p:sp>
        <p:nvSpPr>
          <p:cNvPr id="22" name="Text 20"/>
          <p:cNvSpPr/>
          <p:nvPr/>
        </p:nvSpPr>
        <p:spPr>
          <a:xfrm>
            <a:off x="3291840" y="832104"/>
            <a:ext cx="242316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顧客情報を編集</a:t>
            </a:r>
            <a:endParaRPr lang="en-US" sz="1300" dirty="0"/>
          </a:p>
        </p:txBody>
      </p:sp>
      <p:sp>
        <p:nvSpPr>
          <p:cNvPr id="23" name="Shape 21"/>
          <p:cNvSpPr/>
          <p:nvPr/>
        </p:nvSpPr>
        <p:spPr>
          <a:xfrm>
            <a:off x="3364992" y="1426464"/>
            <a:ext cx="256032" cy="256032"/>
          </a:xfrm>
          <a:prstGeom prst="ellipse">
            <a:avLst/>
          </a:prstGeom>
          <a:solidFill>
            <a:srgbClr val="2563EB"/>
          </a:solidFill>
          <a:ln/>
        </p:spPr>
      </p:sp>
      <p:sp>
        <p:nvSpPr>
          <p:cNvPr id="24" name="Text 22"/>
          <p:cNvSpPr/>
          <p:nvPr/>
        </p:nvSpPr>
        <p:spPr>
          <a:xfrm>
            <a:off x="3364992" y="14264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25" name="Text 23"/>
          <p:cNvSpPr/>
          <p:nvPr/>
        </p:nvSpPr>
        <p:spPr>
          <a:xfrm>
            <a:off x="3703320" y="1417320"/>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顧客一覧の行をクリック</a:t>
            </a:r>
            <a:endParaRPr lang="en-US" sz="1050" dirty="0"/>
          </a:p>
        </p:txBody>
      </p:sp>
      <p:sp>
        <p:nvSpPr>
          <p:cNvPr id="26" name="Shape 24"/>
          <p:cNvSpPr/>
          <p:nvPr/>
        </p:nvSpPr>
        <p:spPr>
          <a:xfrm>
            <a:off x="3364992" y="2139696"/>
            <a:ext cx="256032" cy="256032"/>
          </a:xfrm>
          <a:prstGeom prst="ellipse">
            <a:avLst/>
          </a:prstGeom>
          <a:solidFill>
            <a:srgbClr val="2563EB"/>
          </a:solidFill>
          <a:ln/>
        </p:spPr>
      </p:sp>
      <p:sp>
        <p:nvSpPr>
          <p:cNvPr id="27" name="Text 25"/>
          <p:cNvSpPr/>
          <p:nvPr/>
        </p:nvSpPr>
        <p:spPr>
          <a:xfrm>
            <a:off x="3364992" y="21396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8" name="Text 26"/>
          <p:cNvSpPr/>
          <p:nvPr/>
        </p:nvSpPr>
        <p:spPr>
          <a:xfrm>
            <a:off x="3703320" y="2130552"/>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編集モーダルが開く</a:t>
            </a:r>
            <a:endParaRPr lang="en-US" sz="1050" dirty="0"/>
          </a:p>
        </p:txBody>
      </p:sp>
      <p:sp>
        <p:nvSpPr>
          <p:cNvPr id="29" name="Shape 27"/>
          <p:cNvSpPr/>
          <p:nvPr/>
        </p:nvSpPr>
        <p:spPr>
          <a:xfrm>
            <a:off x="3364992" y="2852928"/>
            <a:ext cx="256032" cy="256032"/>
          </a:xfrm>
          <a:prstGeom prst="ellipse">
            <a:avLst/>
          </a:prstGeom>
          <a:solidFill>
            <a:srgbClr val="2563EB"/>
          </a:solidFill>
          <a:ln/>
        </p:spPr>
      </p:sp>
      <p:sp>
        <p:nvSpPr>
          <p:cNvPr id="30" name="Text 28"/>
          <p:cNvSpPr/>
          <p:nvPr/>
        </p:nvSpPr>
        <p:spPr>
          <a:xfrm>
            <a:off x="3364992" y="2852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31" name="Text 29"/>
          <p:cNvSpPr/>
          <p:nvPr/>
        </p:nvSpPr>
        <p:spPr>
          <a:xfrm>
            <a:off x="3703320" y="2843784"/>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情報を更新して「保存」</a:t>
            </a:r>
            <a:endParaRPr lang="en-US" sz="1050" dirty="0"/>
          </a:p>
        </p:txBody>
      </p:sp>
      <p:sp>
        <p:nvSpPr>
          <p:cNvPr id="32" name="Shape 30"/>
          <p:cNvSpPr/>
          <p:nvPr/>
        </p:nvSpPr>
        <p:spPr>
          <a:xfrm>
            <a:off x="3364992" y="3566160"/>
            <a:ext cx="256032" cy="256032"/>
          </a:xfrm>
          <a:prstGeom prst="ellipse">
            <a:avLst/>
          </a:prstGeom>
          <a:solidFill>
            <a:srgbClr val="2563EB"/>
          </a:solidFill>
          <a:ln/>
        </p:spPr>
      </p:sp>
      <p:sp>
        <p:nvSpPr>
          <p:cNvPr id="33" name="Text 31"/>
          <p:cNvSpPr/>
          <p:nvPr/>
        </p:nvSpPr>
        <p:spPr>
          <a:xfrm>
            <a:off x="3364992" y="35661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34" name="Text 32"/>
          <p:cNvSpPr/>
          <p:nvPr/>
        </p:nvSpPr>
        <p:spPr>
          <a:xfrm>
            <a:off x="3703320" y="3557016"/>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変更が即時反映される</a:t>
            </a:r>
            <a:endParaRPr lang="en-US" sz="1050" dirty="0"/>
          </a:p>
        </p:txBody>
      </p:sp>
      <p:sp>
        <p:nvSpPr>
          <p:cNvPr id="35" name="Shape 33"/>
          <p:cNvSpPr/>
          <p:nvPr/>
        </p:nvSpPr>
        <p:spPr>
          <a:xfrm>
            <a:off x="6035040" y="804672"/>
            <a:ext cx="2606040" cy="4069080"/>
          </a:xfrm>
          <a:prstGeom prst="rect">
            <a:avLst/>
          </a:prstGeom>
          <a:solidFill>
            <a:srgbClr val="F8FAFC"/>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6" name="Shape 34"/>
          <p:cNvSpPr/>
          <p:nvPr/>
        </p:nvSpPr>
        <p:spPr>
          <a:xfrm>
            <a:off x="6035040" y="804672"/>
            <a:ext cx="2606040" cy="475488"/>
          </a:xfrm>
          <a:prstGeom prst="rect">
            <a:avLst/>
          </a:prstGeom>
          <a:solidFill>
            <a:srgbClr val="D97706"/>
          </a:solidFill>
          <a:ln/>
        </p:spPr>
      </p:sp>
      <p:sp>
        <p:nvSpPr>
          <p:cNvPr id="37" name="Text 35"/>
          <p:cNvSpPr/>
          <p:nvPr/>
        </p:nvSpPr>
        <p:spPr>
          <a:xfrm>
            <a:off x="6126480" y="832104"/>
            <a:ext cx="2423160" cy="40233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表示順を並べ替え</a:t>
            </a:r>
            <a:endParaRPr lang="en-US" sz="1300" dirty="0"/>
          </a:p>
        </p:txBody>
      </p:sp>
      <p:sp>
        <p:nvSpPr>
          <p:cNvPr id="38" name="Shape 36"/>
          <p:cNvSpPr/>
          <p:nvPr/>
        </p:nvSpPr>
        <p:spPr>
          <a:xfrm>
            <a:off x="6199632" y="1426464"/>
            <a:ext cx="256032" cy="256032"/>
          </a:xfrm>
          <a:prstGeom prst="ellipse">
            <a:avLst/>
          </a:prstGeom>
          <a:solidFill>
            <a:srgbClr val="D97706"/>
          </a:solidFill>
          <a:ln/>
        </p:spPr>
      </p:sp>
      <p:sp>
        <p:nvSpPr>
          <p:cNvPr id="39" name="Text 37"/>
          <p:cNvSpPr/>
          <p:nvPr/>
        </p:nvSpPr>
        <p:spPr>
          <a:xfrm>
            <a:off x="6199632" y="14264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40" name="Text 38"/>
          <p:cNvSpPr/>
          <p:nvPr/>
        </p:nvSpPr>
        <p:spPr>
          <a:xfrm>
            <a:off x="6537960" y="1417320"/>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顧客一覧の「順序」列を確認</a:t>
            </a:r>
            <a:endParaRPr lang="en-US" sz="1050" dirty="0"/>
          </a:p>
        </p:txBody>
      </p:sp>
      <p:sp>
        <p:nvSpPr>
          <p:cNvPr id="41" name="Shape 39"/>
          <p:cNvSpPr/>
          <p:nvPr/>
        </p:nvSpPr>
        <p:spPr>
          <a:xfrm>
            <a:off x="6199632" y="2139696"/>
            <a:ext cx="256032" cy="256032"/>
          </a:xfrm>
          <a:prstGeom prst="ellipse">
            <a:avLst/>
          </a:prstGeom>
          <a:solidFill>
            <a:srgbClr val="D97706"/>
          </a:solidFill>
          <a:ln/>
        </p:spPr>
      </p:sp>
      <p:sp>
        <p:nvSpPr>
          <p:cNvPr id="42" name="Text 40"/>
          <p:cNvSpPr/>
          <p:nvPr/>
        </p:nvSpPr>
        <p:spPr>
          <a:xfrm>
            <a:off x="6199632" y="213969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43" name="Text 41"/>
          <p:cNvSpPr/>
          <p:nvPr/>
        </p:nvSpPr>
        <p:spPr>
          <a:xfrm>
            <a:off x="6537960" y="2130552"/>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ボタンで上下に移動</a:t>
            </a:r>
            <a:endParaRPr lang="en-US" sz="1050" dirty="0"/>
          </a:p>
        </p:txBody>
      </p:sp>
      <p:sp>
        <p:nvSpPr>
          <p:cNvPr id="44" name="Shape 42"/>
          <p:cNvSpPr/>
          <p:nvPr/>
        </p:nvSpPr>
        <p:spPr>
          <a:xfrm>
            <a:off x="6199632" y="2852928"/>
            <a:ext cx="256032" cy="256032"/>
          </a:xfrm>
          <a:prstGeom prst="ellipse">
            <a:avLst/>
          </a:prstGeom>
          <a:solidFill>
            <a:srgbClr val="D97706"/>
          </a:solidFill>
          <a:ln/>
        </p:spPr>
      </p:sp>
      <p:sp>
        <p:nvSpPr>
          <p:cNvPr id="45" name="Text 43"/>
          <p:cNvSpPr/>
          <p:nvPr/>
        </p:nvSpPr>
        <p:spPr>
          <a:xfrm>
            <a:off x="6199632" y="2852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46" name="Text 44"/>
          <p:cNvSpPr/>
          <p:nvPr/>
        </p:nvSpPr>
        <p:spPr>
          <a:xfrm>
            <a:off x="6537960" y="2843784"/>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変更は即時保存される</a:t>
            </a:r>
            <a:endParaRPr lang="en-US" sz="1050" dirty="0"/>
          </a:p>
        </p:txBody>
      </p:sp>
      <p:sp>
        <p:nvSpPr>
          <p:cNvPr id="47" name="Shape 45"/>
          <p:cNvSpPr/>
          <p:nvPr/>
        </p:nvSpPr>
        <p:spPr>
          <a:xfrm>
            <a:off x="6199632" y="3566160"/>
            <a:ext cx="256032" cy="256032"/>
          </a:xfrm>
          <a:prstGeom prst="ellipse">
            <a:avLst/>
          </a:prstGeom>
          <a:solidFill>
            <a:srgbClr val="D97706"/>
          </a:solidFill>
          <a:ln/>
        </p:spPr>
      </p:sp>
      <p:sp>
        <p:nvSpPr>
          <p:cNvPr id="48" name="Text 46"/>
          <p:cNvSpPr/>
          <p:nvPr/>
        </p:nvSpPr>
        <p:spPr>
          <a:xfrm>
            <a:off x="6199632" y="356616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49" name="Text 47"/>
          <p:cNvSpPr/>
          <p:nvPr/>
        </p:nvSpPr>
        <p:spPr>
          <a:xfrm>
            <a:off x="6537960" y="3557016"/>
            <a:ext cx="2011680" cy="402336"/>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見積作成時の選択順にも反映</a:t>
            </a:r>
            <a:endParaRPr lang="en-US" sz="1050" dirty="0"/>
          </a:p>
        </p:txBody>
      </p:sp>
      <p:sp>
        <p:nvSpPr>
          <p:cNvPr id="50" name="Shape 48"/>
          <p:cNvSpPr/>
          <p:nvPr/>
        </p:nvSpPr>
        <p:spPr>
          <a:xfrm>
            <a:off x="365760" y="4636008"/>
            <a:ext cx="8412480" cy="530352"/>
          </a:xfrm>
          <a:prstGeom prst="rect">
            <a:avLst/>
          </a:prstGeom>
          <a:solidFill>
            <a:srgbClr val="EFF6FF"/>
          </a:solidFill>
          <a:ln w="12700">
            <a:solidFill>
              <a:srgbClr val="7C3AED"/>
            </a:solidFill>
            <a:prstDash val="solid"/>
          </a:ln>
        </p:spPr>
      </p:sp>
      <p:sp>
        <p:nvSpPr>
          <p:cNvPr id="51" name="Text 49"/>
          <p:cNvSpPr/>
          <p:nvPr/>
        </p:nvSpPr>
        <p:spPr>
          <a:xfrm>
            <a:off x="475488" y="4672584"/>
            <a:ext cx="822960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顧客の並び替えは管理者・特権管理者のみ操作できます。▲▼ ボタンが表示されない場合は権限をご確認ください。</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D97706"/>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08  登録単価表の使い方</a:t>
            </a:r>
            <a:endParaRPr lang="en-US" sz="2000" dirty="0"/>
          </a:p>
        </p:txBody>
      </p:sp>
      <p:sp>
        <p:nvSpPr>
          <p:cNvPr id="5" name="Shape 3"/>
          <p:cNvSpPr/>
          <p:nvPr/>
        </p:nvSpPr>
        <p:spPr>
          <a:xfrm>
            <a:off x="365760" y="822960"/>
            <a:ext cx="1920240" cy="2468880"/>
          </a:xfrm>
          <a:prstGeom prst="rect">
            <a:avLst/>
          </a:prstGeom>
          <a:solidFill>
            <a:srgbClr val="FFFFFF"/>
          </a:solidFill>
          <a:ln w="12700">
            <a:solidFill>
              <a:srgbClr val="2563EB"/>
            </a:solidFill>
            <a:prstDash val="solid"/>
          </a:ln>
          <a:effectLst>
            <a:outerShdw sx="100000" sy="100000" kx="0" ky="0" algn="bl" rotWithShape="0" blurRad="76200" dist="25400" dir="8100000">
              <a:srgbClr val="000000">
                <a:alpha val="12000"/>
              </a:srgbClr>
            </a:outerShdw>
          </a:effectLst>
        </p:spPr>
      </p:sp>
      <p:sp>
        <p:nvSpPr>
          <p:cNvPr id="6" name="Shape 4"/>
          <p:cNvSpPr/>
          <p:nvPr/>
        </p:nvSpPr>
        <p:spPr>
          <a:xfrm>
            <a:off x="365760" y="822960"/>
            <a:ext cx="1920240" cy="54864"/>
          </a:xfrm>
          <a:prstGeom prst="rect">
            <a:avLst/>
          </a:prstGeom>
          <a:solidFill>
            <a:srgbClr val="2563EB"/>
          </a:solidFill>
          <a:ln/>
        </p:spPr>
      </p:sp>
      <p:sp>
        <p:nvSpPr>
          <p:cNvPr id="7" name="Text 5"/>
          <p:cNvSpPr/>
          <p:nvPr/>
        </p:nvSpPr>
        <p:spPr>
          <a:xfrm>
            <a:off x="1088136" y="1005840"/>
            <a:ext cx="475488"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438912" y="1719072"/>
            <a:ext cx="1773936" cy="457200"/>
          </a:xfrm>
          <a:prstGeom prst="rect">
            <a:avLst/>
          </a:prstGeom>
          <a:noFill/>
          <a:ln/>
        </p:spPr>
        <p:txBody>
          <a:bodyPr wrap="square" lIns="0" tIns="0" rIns="0" bIns="0" rtlCol="0" anchor="ctr"/>
          <a:lstStyle/>
          <a:p>
            <a:pPr algn="ctr" indent="0" marL="0">
              <a:buNone/>
            </a:pPr>
            <a:r>
              <a:rPr lang="en-US" sz="1250" b="1" dirty="0">
                <a:solidFill>
                  <a:srgbClr val="1E3A6E"/>
                </a:solidFill>
                <a:latin typeface="Calibri" pitchFamily="34" charset="0"/>
                <a:ea typeface="Calibri" pitchFamily="34" charset="-122"/>
                <a:cs typeface="Calibri" pitchFamily="34" charset="-120"/>
              </a:rPr>
              <a:t>単価表を作成</a:t>
            </a:r>
            <a:endParaRPr lang="en-US" sz="1250" dirty="0"/>
          </a:p>
        </p:txBody>
      </p:sp>
      <p:sp>
        <p:nvSpPr>
          <p:cNvPr id="9" name="Text 7"/>
          <p:cNvSpPr/>
          <p:nvPr/>
        </p:nvSpPr>
        <p:spPr>
          <a:xfrm>
            <a:off x="457200" y="2240280"/>
            <a:ext cx="1737360" cy="8046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「登録単価表」→「新規作成」</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単価表に名前をつけて作成</a:t>
            </a:r>
            <a:endParaRPr lang="en-US" sz="1000" dirty="0"/>
          </a:p>
        </p:txBody>
      </p:sp>
      <p:sp>
        <p:nvSpPr>
          <p:cNvPr id="10" name="Shape 8"/>
          <p:cNvSpPr/>
          <p:nvPr/>
        </p:nvSpPr>
        <p:spPr>
          <a:xfrm>
            <a:off x="2514600" y="822960"/>
            <a:ext cx="1920240" cy="2468880"/>
          </a:xfrm>
          <a:prstGeom prst="rect">
            <a:avLst/>
          </a:prstGeom>
          <a:solidFill>
            <a:srgbClr val="FFFFFF"/>
          </a:solidFill>
          <a:ln w="12700">
            <a:solidFill>
              <a:srgbClr val="D97706"/>
            </a:solidFill>
            <a:prstDash val="solid"/>
          </a:ln>
          <a:effectLst>
            <a:outerShdw sx="100000" sy="100000" kx="0" ky="0" algn="bl" rotWithShape="0" blurRad="76200" dist="25400" dir="8100000">
              <a:srgbClr val="000000">
                <a:alpha val="12000"/>
              </a:srgbClr>
            </a:outerShdw>
          </a:effectLst>
        </p:spPr>
      </p:sp>
      <p:sp>
        <p:nvSpPr>
          <p:cNvPr id="11" name="Shape 9"/>
          <p:cNvSpPr/>
          <p:nvPr/>
        </p:nvSpPr>
        <p:spPr>
          <a:xfrm>
            <a:off x="2514600" y="822960"/>
            <a:ext cx="1920240" cy="54864"/>
          </a:xfrm>
          <a:prstGeom prst="rect">
            <a:avLst/>
          </a:prstGeom>
          <a:solidFill>
            <a:srgbClr val="D97706"/>
          </a:solidFill>
          <a:ln/>
        </p:spPr>
      </p:sp>
      <p:sp>
        <p:nvSpPr>
          <p:cNvPr id="12" name="Text 10"/>
          <p:cNvSpPr/>
          <p:nvPr/>
        </p:nvSpPr>
        <p:spPr>
          <a:xfrm>
            <a:off x="3236976" y="1005840"/>
            <a:ext cx="475488"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2587752" y="1719072"/>
            <a:ext cx="1773936" cy="457200"/>
          </a:xfrm>
          <a:prstGeom prst="rect">
            <a:avLst/>
          </a:prstGeom>
          <a:noFill/>
          <a:ln/>
        </p:spPr>
        <p:txBody>
          <a:bodyPr wrap="square" lIns="0" tIns="0" rIns="0" bIns="0" rtlCol="0" anchor="ctr"/>
          <a:lstStyle/>
          <a:p>
            <a:pPr algn="ctr" indent="0" marL="0">
              <a:buNone/>
            </a:pPr>
            <a:r>
              <a:rPr lang="en-US" sz="1250" b="1" dirty="0">
                <a:solidFill>
                  <a:srgbClr val="1E3A6E"/>
                </a:solidFill>
                <a:latin typeface="Calibri" pitchFamily="34" charset="0"/>
                <a:ea typeface="Calibri" pitchFamily="34" charset="-122"/>
                <a:cs typeface="Calibri" pitchFamily="34" charset="-120"/>
              </a:rPr>
              <a:t>品目を追加</a:t>
            </a:r>
            <a:endParaRPr lang="en-US" sz="1250" dirty="0"/>
          </a:p>
        </p:txBody>
      </p:sp>
      <p:sp>
        <p:nvSpPr>
          <p:cNvPr id="14" name="Text 12"/>
          <p:cNvSpPr/>
          <p:nvPr/>
        </p:nvSpPr>
        <p:spPr>
          <a:xfrm>
            <a:off x="2606040" y="2240280"/>
            <a:ext cx="1737360" cy="8046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単価表を開いて</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「追加」ボタンから品目を登録</a:t>
            </a:r>
            <a:endParaRPr lang="en-US" sz="1000" dirty="0"/>
          </a:p>
        </p:txBody>
      </p:sp>
      <p:sp>
        <p:nvSpPr>
          <p:cNvPr id="15" name="Shape 13"/>
          <p:cNvSpPr/>
          <p:nvPr/>
        </p:nvSpPr>
        <p:spPr>
          <a:xfrm>
            <a:off x="4663440" y="822960"/>
            <a:ext cx="1920240" cy="2468880"/>
          </a:xfrm>
          <a:prstGeom prst="rect">
            <a:avLst/>
          </a:prstGeom>
          <a:solidFill>
            <a:srgbClr val="FFFFFF"/>
          </a:solidFill>
          <a:ln w="12700">
            <a:solidFill>
              <a:srgbClr val="059669"/>
            </a:solidFill>
            <a:prstDash val="solid"/>
          </a:ln>
          <a:effectLst>
            <a:outerShdw sx="100000" sy="100000" kx="0" ky="0" algn="bl" rotWithShape="0" blurRad="76200" dist="25400" dir="8100000">
              <a:srgbClr val="000000">
                <a:alpha val="12000"/>
              </a:srgbClr>
            </a:outerShdw>
          </a:effectLst>
        </p:spPr>
      </p:sp>
      <p:sp>
        <p:nvSpPr>
          <p:cNvPr id="16" name="Shape 14"/>
          <p:cNvSpPr/>
          <p:nvPr/>
        </p:nvSpPr>
        <p:spPr>
          <a:xfrm>
            <a:off x="4663440" y="822960"/>
            <a:ext cx="1920240" cy="54864"/>
          </a:xfrm>
          <a:prstGeom prst="rect">
            <a:avLst/>
          </a:prstGeom>
          <a:solidFill>
            <a:srgbClr val="059669"/>
          </a:solidFill>
          <a:ln/>
        </p:spPr>
      </p:sp>
      <p:sp>
        <p:nvSpPr>
          <p:cNvPr id="17" name="Text 15"/>
          <p:cNvSpPr/>
          <p:nvPr/>
        </p:nvSpPr>
        <p:spPr>
          <a:xfrm>
            <a:off x="5385816" y="1005840"/>
            <a:ext cx="475488"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4736592" y="1719072"/>
            <a:ext cx="1773936" cy="457200"/>
          </a:xfrm>
          <a:prstGeom prst="rect">
            <a:avLst/>
          </a:prstGeom>
          <a:noFill/>
          <a:ln/>
        </p:spPr>
        <p:txBody>
          <a:bodyPr wrap="square" lIns="0" tIns="0" rIns="0" bIns="0" rtlCol="0" anchor="ctr"/>
          <a:lstStyle/>
          <a:p>
            <a:pPr algn="ctr" indent="0" marL="0">
              <a:buNone/>
            </a:pPr>
            <a:r>
              <a:rPr lang="en-US" sz="1250" b="1" dirty="0">
                <a:solidFill>
                  <a:srgbClr val="1E3A6E"/>
                </a:solidFill>
                <a:latin typeface="Calibri" pitchFamily="34" charset="0"/>
                <a:ea typeface="Calibri" pitchFamily="34" charset="-122"/>
                <a:cs typeface="Calibri" pitchFamily="34" charset="-120"/>
              </a:rPr>
              <a:t>CSVで一括取り込み</a:t>
            </a:r>
            <a:endParaRPr lang="en-US" sz="1250" dirty="0"/>
          </a:p>
        </p:txBody>
      </p:sp>
      <p:sp>
        <p:nvSpPr>
          <p:cNvPr id="19" name="Text 17"/>
          <p:cNvSpPr/>
          <p:nvPr/>
        </p:nvSpPr>
        <p:spPr>
          <a:xfrm>
            <a:off x="4754880" y="2240280"/>
            <a:ext cx="1737360" cy="8046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テンプレートをダウンロード</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 Excelで編集 → 取り込み</a:t>
            </a:r>
            <a:endParaRPr lang="en-US" sz="1000" dirty="0"/>
          </a:p>
        </p:txBody>
      </p:sp>
      <p:sp>
        <p:nvSpPr>
          <p:cNvPr id="20" name="Shape 18"/>
          <p:cNvSpPr/>
          <p:nvPr/>
        </p:nvSpPr>
        <p:spPr>
          <a:xfrm>
            <a:off x="6812280" y="822960"/>
            <a:ext cx="1920240" cy="2468880"/>
          </a:xfrm>
          <a:prstGeom prst="rect">
            <a:avLst/>
          </a:prstGeom>
          <a:solidFill>
            <a:srgbClr val="FFFFFF"/>
          </a:solidFill>
          <a:ln w="12700">
            <a:solidFill>
              <a:srgbClr val="7C3AED"/>
            </a:solidFill>
            <a:prstDash val="solid"/>
          </a:ln>
          <a:effectLst>
            <a:outerShdw sx="100000" sy="100000" kx="0" ky="0" algn="bl" rotWithShape="0" blurRad="76200" dist="25400" dir="8100000">
              <a:srgbClr val="000000">
                <a:alpha val="12000"/>
              </a:srgbClr>
            </a:outerShdw>
          </a:effectLst>
        </p:spPr>
      </p:sp>
      <p:sp>
        <p:nvSpPr>
          <p:cNvPr id="21" name="Shape 19"/>
          <p:cNvSpPr/>
          <p:nvPr/>
        </p:nvSpPr>
        <p:spPr>
          <a:xfrm>
            <a:off x="6812280" y="822960"/>
            <a:ext cx="1920240" cy="54864"/>
          </a:xfrm>
          <a:prstGeom prst="rect">
            <a:avLst/>
          </a:prstGeom>
          <a:solidFill>
            <a:srgbClr val="7C3AED"/>
          </a:solidFill>
          <a:ln/>
        </p:spPr>
      </p:sp>
      <p:sp>
        <p:nvSpPr>
          <p:cNvPr id="22" name="Text 20"/>
          <p:cNvSpPr/>
          <p:nvPr/>
        </p:nvSpPr>
        <p:spPr>
          <a:xfrm>
            <a:off x="7534656" y="1005840"/>
            <a:ext cx="475488" cy="594360"/>
          </a:xfrm>
          <a:prstGeom prst="rect">
            <a:avLst/>
          </a:prstGeom>
          <a:noFill/>
          <a:ln/>
        </p:spPr>
        <p:txBody>
          <a:bodyPr wrap="square" lIns="0" tIns="0" rIns="0" bIns="0" rtlCol="0" anchor="ctr"/>
          <a:lstStyle/>
          <a:p>
            <a:pPr algn="ctr" indent="0" marL="0">
              <a:buNone/>
            </a:pPr>
            <a:r>
              <a:rPr lang="en-US" sz="2800" dirty="0">
                <a:solidFill>
                  <a:srgbClr val="000000"/>
                </a:solidFill>
              </a:rPr>
              <a:t>↕️</a:t>
            </a:r>
            <a:endParaRPr lang="en-US" sz="2800" dirty="0"/>
          </a:p>
        </p:txBody>
      </p:sp>
      <p:sp>
        <p:nvSpPr>
          <p:cNvPr id="23" name="Text 21"/>
          <p:cNvSpPr/>
          <p:nvPr/>
        </p:nvSpPr>
        <p:spPr>
          <a:xfrm>
            <a:off x="6885432" y="1719072"/>
            <a:ext cx="1773936" cy="457200"/>
          </a:xfrm>
          <a:prstGeom prst="rect">
            <a:avLst/>
          </a:prstGeom>
          <a:noFill/>
          <a:ln/>
        </p:spPr>
        <p:txBody>
          <a:bodyPr wrap="square" lIns="0" tIns="0" rIns="0" bIns="0" rtlCol="0" anchor="ctr"/>
          <a:lstStyle/>
          <a:p>
            <a:pPr algn="ctr" indent="0" marL="0">
              <a:buNone/>
            </a:pPr>
            <a:r>
              <a:rPr lang="en-US" sz="1250" b="1" dirty="0">
                <a:solidFill>
                  <a:srgbClr val="1E3A6E"/>
                </a:solidFill>
                <a:latin typeface="Calibri" pitchFamily="34" charset="0"/>
                <a:ea typeface="Calibri" pitchFamily="34" charset="-122"/>
                <a:cs typeface="Calibri" pitchFamily="34" charset="-120"/>
              </a:rPr>
              <a:t>表示順の並べ替え</a:t>
            </a:r>
            <a:endParaRPr lang="en-US" sz="1250" dirty="0"/>
          </a:p>
        </p:txBody>
      </p:sp>
      <p:sp>
        <p:nvSpPr>
          <p:cNvPr id="24" name="Text 22"/>
          <p:cNvSpPr/>
          <p:nvPr/>
        </p:nvSpPr>
        <p:spPr>
          <a:xfrm>
            <a:off x="6903720" y="2240280"/>
            <a:ext cx="1737360" cy="8046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 ボタンで品目の</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表示順を自由に変更</a:t>
            </a:r>
            <a:endParaRPr lang="en-US" sz="1000" dirty="0"/>
          </a:p>
        </p:txBody>
      </p:sp>
      <p:sp>
        <p:nvSpPr>
          <p:cNvPr id="25" name="Shape 23"/>
          <p:cNvSpPr/>
          <p:nvPr/>
        </p:nvSpPr>
        <p:spPr>
          <a:xfrm>
            <a:off x="365760" y="3429000"/>
            <a:ext cx="8412480" cy="1554480"/>
          </a:xfrm>
          <a:prstGeom prst="rect">
            <a:avLst/>
          </a:prstGeom>
          <a:solidFill>
            <a:srgbClr val="EFF6FF"/>
          </a:solidFill>
          <a:ln w="12700">
            <a:solidFill>
              <a:srgbClr val="CBD5E1"/>
            </a:solidFill>
            <a:prstDash val="solid"/>
          </a:ln>
        </p:spPr>
      </p:sp>
      <p:sp>
        <p:nvSpPr>
          <p:cNvPr id="26" name="Text 24"/>
          <p:cNvSpPr/>
          <p:nvPr/>
        </p:nvSpPr>
        <p:spPr>
          <a:xfrm>
            <a:off x="548640" y="3502152"/>
            <a:ext cx="8229600" cy="292608"/>
          </a:xfrm>
          <a:prstGeom prst="rect">
            <a:avLst/>
          </a:prstGeom>
          <a:noFill/>
          <a:ln/>
        </p:spPr>
        <p:txBody>
          <a:bodyPr wrap="square" lIns="0" tIns="0" rIns="0" bIns="0" rtlCol="0" anchor="ctr"/>
          <a:lstStyle/>
          <a:p>
            <a:pPr indent="0" marL="0">
              <a:buNone/>
            </a:pPr>
            <a:r>
              <a:rPr lang="en-US" sz="1100" b="1" dirty="0">
                <a:solidFill>
                  <a:srgbClr val="1E3A6E"/>
                </a:solidFill>
                <a:latin typeface="Calibri" pitchFamily="34" charset="0"/>
                <a:ea typeface="Calibri" pitchFamily="34" charset="-122"/>
                <a:cs typeface="Calibri" pitchFamily="34" charset="-120"/>
              </a:rPr>
              <a:t>CSVテンプレートの列構成</a:t>
            </a:r>
            <a:endParaRPr lang="en-US" sz="1100" dirty="0"/>
          </a:p>
        </p:txBody>
      </p:sp>
      <p:sp>
        <p:nvSpPr>
          <p:cNvPr id="27" name="Shape 25"/>
          <p:cNvSpPr/>
          <p:nvPr/>
        </p:nvSpPr>
        <p:spPr>
          <a:xfrm>
            <a:off x="457200" y="3858768"/>
            <a:ext cx="1600200" cy="292608"/>
          </a:xfrm>
          <a:prstGeom prst="rect">
            <a:avLst/>
          </a:prstGeom>
          <a:solidFill>
            <a:srgbClr val="1E3A6E"/>
          </a:solidFill>
          <a:ln/>
        </p:spPr>
      </p:sp>
      <p:sp>
        <p:nvSpPr>
          <p:cNvPr id="28" name="Text 26"/>
          <p:cNvSpPr/>
          <p:nvPr/>
        </p:nvSpPr>
        <p:spPr>
          <a:xfrm>
            <a:off x="512064" y="3877056"/>
            <a:ext cx="1508760" cy="256032"/>
          </a:xfrm>
          <a:prstGeom prst="rect">
            <a:avLst/>
          </a:prstGeom>
          <a:noFill/>
          <a:ln/>
        </p:spPr>
        <p:txBody>
          <a:bodyPr wrap="square" lIns="0" tIns="0" rIns="0" bIns="0" rtlCol="0" anchor="ctr"/>
          <a:lstStyle/>
          <a:p>
            <a:pPr indent="0" marL="0">
              <a:buNone/>
            </a:pPr>
            <a:r>
              <a:rPr lang="en-US" sz="950" b="1" dirty="0">
                <a:solidFill>
                  <a:srgbClr val="FFFFFF"/>
                </a:solidFill>
              </a:rPr>
              <a:t>名称</a:t>
            </a:r>
            <a:endParaRPr lang="en-US" sz="950" dirty="0"/>
          </a:p>
        </p:txBody>
      </p:sp>
      <p:sp>
        <p:nvSpPr>
          <p:cNvPr id="29" name="Shape 27"/>
          <p:cNvSpPr/>
          <p:nvPr/>
        </p:nvSpPr>
        <p:spPr>
          <a:xfrm>
            <a:off x="457200" y="4178808"/>
            <a:ext cx="1600200" cy="292608"/>
          </a:xfrm>
          <a:prstGeom prst="rect">
            <a:avLst/>
          </a:prstGeom>
          <a:solidFill>
            <a:srgbClr val="FFFFFF"/>
          </a:solidFill>
          <a:ln w="6350">
            <a:solidFill>
              <a:srgbClr val="CBD5E1"/>
            </a:solidFill>
            <a:prstDash val="solid"/>
          </a:ln>
        </p:spPr>
      </p:sp>
      <p:sp>
        <p:nvSpPr>
          <p:cNvPr id="30" name="Text 28"/>
          <p:cNvSpPr/>
          <p:nvPr/>
        </p:nvSpPr>
        <p:spPr>
          <a:xfrm>
            <a:off x="512064" y="4197096"/>
            <a:ext cx="1508760" cy="256032"/>
          </a:xfrm>
          <a:prstGeom prst="rect">
            <a:avLst/>
          </a:prstGeom>
          <a:noFill/>
          <a:ln/>
        </p:spPr>
        <p:txBody>
          <a:bodyPr wrap="square" lIns="0" tIns="0" rIns="0" bIns="0" rtlCol="0" anchor="ctr"/>
          <a:lstStyle/>
          <a:p>
            <a:pPr indent="0" marL="0">
              <a:buNone/>
            </a:pPr>
            <a:r>
              <a:rPr lang="en-US" sz="850" dirty="0">
                <a:solidFill>
                  <a:srgbClr val="64748B"/>
                </a:solidFill>
              </a:rPr>
              <a:t>ケーブル配線</a:t>
            </a:r>
            <a:endParaRPr lang="en-US" sz="850" dirty="0"/>
          </a:p>
        </p:txBody>
      </p:sp>
      <p:sp>
        <p:nvSpPr>
          <p:cNvPr id="31" name="Shape 29"/>
          <p:cNvSpPr/>
          <p:nvPr/>
        </p:nvSpPr>
        <p:spPr>
          <a:xfrm>
            <a:off x="2103120" y="3858768"/>
            <a:ext cx="1600200" cy="292608"/>
          </a:xfrm>
          <a:prstGeom prst="rect">
            <a:avLst/>
          </a:prstGeom>
          <a:solidFill>
            <a:srgbClr val="1E3A6E"/>
          </a:solidFill>
          <a:ln/>
        </p:spPr>
      </p:sp>
      <p:sp>
        <p:nvSpPr>
          <p:cNvPr id="32" name="Text 30"/>
          <p:cNvSpPr/>
          <p:nvPr/>
        </p:nvSpPr>
        <p:spPr>
          <a:xfrm>
            <a:off x="2157984" y="3877056"/>
            <a:ext cx="1508760" cy="256032"/>
          </a:xfrm>
          <a:prstGeom prst="rect">
            <a:avLst/>
          </a:prstGeom>
          <a:noFill/>
          <a:ln/>
        </p:spPr>
        <p:txBody>
          <a:bodyPr wrap="square" lIns="0" tIns="0" rIns="0" bIns="0" rtlCol="0" anchor="ctr"/>
          <a:lstStyle/>
          <a:p>
            <a:pPr indent="0" marL="0">
              <a:buNone/>
            </a:pPr>
            <a:r>
              <a:rPr lang="en-US" sz="950" b="1" dirty="0">
                <a:solidFill>
                  <a:srgbClr val="FFFFFF"/>
                </a:solidFill>
              </a:rPr>
              <a:t>仕様</a:t>
            </a:r>
            <a:endParaRPr lang="en-US" sz="950" dirty="0"/>
          </a:p>
        </p:txBody>
      </p:sp>
      <p:sp>
        <p:nvSpPr>
          <p:cNvPr id="33" name="Shape 31"/>
          <p:cNvSpPr/>
          <p:nvPr/>
        </p:nvSpPr>
        <p:spPr>
          <a:xfrm>
            <a:off x="2103120" y="4178808"/>
            <a:ext cx="1600200" cy="292608"/>
          </a:xfrm>
          <a:prstGeom prst="rect">
            <a:avLst/>
          </a:prstGeom>
          <a:solidFill>
            <a:srgbClr val="FFFFFF"/>
          </a:solidFill>
          <a:ln w="6350">
            <a:solidFill>
              <a:srgbClr val="CBD5E1"/>
            </a:solidFill>
            <a:prstDash val="solid"/>
          </a:ln>
        </p:spPr>
      </p:sp>
      <p:sp>
        <p:nvSpPr>
          <p:cNvPr id="34" name="Text 32"/>
          <p:cNvSpPr/>
          <p:nvPr/>
        </p:nvSpPr>
        <p:spPr>
          <a:xfrm>
            <a:off x="2157984" y="4197096"/>
            <a:ext cx="1508760" cy="256032"/>
          </a:xfrm>
          <a:prstGeom prst="rect">
            <a:avLst/>
          </a:prstGeom>
          <a:noFill/>
          <a:ln/>
        </p:spPr>
        <p:txBody>
          <a:bodyPr wrap="square" lIns="0" tIns="0" rIns="0" bIns="0" rtlCol="0" anchor="ctr"/>
          <a:lstStyle/>
          <a:p>
            <a:pPr indent="0" marL="0">
              <a:buNone/>
            </a:pPr>
            <a:r>
              <a:rPr lang="en-US" sz="850" dirty="0">
                <a:solidFill>
                  <a:srgbClr val="64748B"/>
                </a:solidFill>
              </a:rPr>
              <a:t>3C-2V 50m</a:t>
            </a:r>
            <a:endParaRPr lang="en-US" sz="850" dirty="0"/>
          </a:p>
        </p:txBody>
      </p:sp>
      <p:sp>
        <p:nvSpPr>
          <p:cNvPr id="35" name="Shape 33"/>
          <p:cNvSpPr/>
          <p:nvPr/>
        </p:nvSpPr>
        <p:spPr>
          <a:xfrm>
            <a:off x="3749040" y="3858768"/>
            <a:ext cx="777240" cy="292608"/>
          </a:xfrm>
          <a:prstGeom prst="rect">
            <a:avLst/>
          </a:prstGeom>
          <a:solidFill>
            <a:srgbClr val="1E3A6E"/>
          </a:solidFill>
          <a:ln/>
        </p:spPr>
      </p:sp>
      <p:sp>
        <p:nvSpPr>
          <p:cNvPr id="36" name="Text 34"/>
          <p:cNvSpPr/>
          <p:nvPr/>
        </p:nvSpPr>
        <p:spPr>
          <a:xfrm>
            <a:off x="3803904" y="3877056"/>
            <a:ext cx="685800" cy="256032"/>
          </a:xfrm>
          <a:prstGeom prst="rect">
            <a:avLst/>
          </a:prstGeom>
          <a:noFill/>
          <a:ln/>
        </p:spPr>
        <p:txBody>
          <a:bodyPr wrap="square" lIns="0" tIns="0" rIns="0" bIns="0" rtlCol="0" anchor="ctr"/>
          <a:lstStyle/>
          <a:p>
            <a:pPr indent="0" marL="0">
              <a:buNone/>
            </a:pPr>
            <a:r>
              <a:rPr lang="en-US" sz="950" b="1" dirty="0">
                <a:solidFill>
                  <a:srgbClr val="FFFFFF"/>
                </a:solidFill>
              </a:rPr>
              <a:t>単位</a:t>
            </a:r>
            <a:endParaRPr lang="en-US" sz="950" dirty="0"/>
          </a:p>
        </p:txBody>
      </p:sp>
      <p:sp>
        <p:nvSpPr>
          <p:cNvPr id="37" name="Shape 35"/>
          <p:cNvSpPr/>
          <p:nvPr/>
        </p:nvSpPr>
        <p:spPr>
          <a:xfrm>
            <a:off x="3749040" y="4178808"/>
            <a:ext cx="777240" cy="292608"/>
          </a:xfrm>
          <a:prstGeom prst="rect">
            <a:avLst/>
          </a:prstGeom>
          <a:solidFill>
            <a:srgbClr val="FFFFFF"/>
          </a:solidFill>
          <a:ln w="6350">
            <a:solidFill>
              <a:srgbClr val="CBD5E1"/>
            </a:solidFill>
            <a:prstDash val="solid"/>
          </a:ln>
        </p:spPr>
      </p:sp>
      <p:sp>
        <p:nvSpPr>
          <p:cNvPr id="38" name="Text 36"/>
          <p:cNvSpPr/>
          <p:nvPr/>
        </p:nvSpPr>
        <p:spPr>
          <a:xfrm>
            <a:off x="3803904" y="4197096"/>
            <a:ext cx="685800" cy="256032"/>
          </a:xfrm>
          <a:prstGeom prst="rect">
            <a:avLst/>
          </a:prstGeom>
          <a:noFill/>
          <a:ln/>
        </p:spPr>
        <p:txBody>
          <a:bodyPr wrap="square" lIns="0" tIns="0" rIns="0" bIns="0" rtlCol="0" anchor="ctr"/>
          <a:lstStyle/>
          <a:p>
            <a:pPr indent="0" marL="0">
              <a:buNone/>
            </a:pPr>
            <a:r>
              <a:rPr lang="en-US" sz="850" dirty="0">
                <a:solidFill>
                  <a:srgbClr val="64748B"/>
                </a:solidFill>
              </a:rPr>
              <a:t>式</a:t>
            </a:r>
            <a:endParaRPr lang="en-US" sz="850" dirty="0"/>
          </a:p>
        </p:txBody>
      </p:sp>
      <p:sp>
        <p:nvSpPr>
          <p:cNvPr id="39" name="Shape 37"/>
          <p:cNvSpPr/>
          <p:nvPr/>
        </p:nvSpPr>
        <p:spPr>
          <a:xfrm>
            <a:off x="4572000" y="3858768"/>
            <a:ext cx="868680" cy="292608"/>
          </a:xfrm>
          <a:prstGeom prst="rect">
            <a:avLst/>
          </a:prstGeom>
          <a:solidFill>
            <a:srgbClr val="1E3A6E"/>
          </a:solidFill>
          <a:ln/>
        </p:spPr>
      </p:sp>
      <p:sp>
        <p:nvSpPr>
          <p:cNvPr id="40" name="Text 38"/>
          <p:cNvSpPr/>
          <p:nvPr/>
        </p:nvSpPr>
        <p:spPr>
          <a:xfrm>
            <a:off x="4626864" y="3877056"/>
            <a:ext cx="777240" cy="256032"/>
          </a:xfrm>
          <a:prstGeom prst="rect">
            <a:avLst/>
          </a:prstGeom>
          <a:noFill/>
          <a:ln/>
        </p:spPr>
        <p:txBody>
          <a:bodyPr wrap="square" lIns="0" tIns="0" rIns="0" bIns="0" rtlCol="0" anchor="ctr"/>
          <a:lstStyle/>
          <a:p>
            <a:pPr indent="0" marL="0">
              <a:buNone/>
            </a:pPr>
            <a:r>
              <a:rPr lang="en-US" sz="950" b="1" dirty="0">
                <a:solidFill>
                  <a:srgbClr val="FFFFFF"/>
                </a:solidFill>
              </a:rPr>
              <a:t>見積単価</a:t>
            </a:r>
            <a:endParaRPr lang="en-US" sz="950" dirty="0"/>
          </a:p>
        </p:txBody>
      </p:sp>
      <p:sp>
        <p:nvSpPr>
          <p:cNvPr id="41" name="Shape 39"/>
          <p:cNvSpPr/>
          <p:nvPr/>
        </p:nvSpPr>
        <p:spPr>
          <a:xfrm>
            <a:off x="4572000" y="4178808"/>
            <a:ext cx="868680" cy="292608"/>
          </a:xfrm>
          <a:prstGeom prst="rect">
            <a:avLst/>
          </a:prstGeom>
          <a:solidFill>
            <a:srgbClr val="FFFFFF"/>
          </a:solidFill>
          <a:ln w="6350">
            <a:solidFill>
              <a:srgbClr val="CBD5E1"/>
            </a:solidFill>
            <a:prstDash val="solid"/>
          </a:ln>
        </p:spPr>
      </p:sp>
      <p:sp>
        <p:nvSpPr>
          <p:cNvPr id="42" name="Text 40"/>
          <p:cNvSpPr/>
          <p:nvPr/>
        </p:nvSpPr>
        <p:spPr>
          <a:xfrm>
            <a:off x="4626864" y="4197096"/>
            <a:ext cx="777240" cy="256032"/>
          </a:xfrm>
          <a:prstGeom prst="rect">
            <a:avLst/>
          </a:prstGeom>
          <a:noFill/>
          <a:ln/>
        </p:spPr>
        <p:txBody>
          <a:bodyPr wrap="square" lIns="0" tIns="0" rIns="0" bIns="0" rtlCol="0" anchor="ctr"/>
          <a:lstStyle/>
          <a:p>
            <a:pPr indent="0" marL="0">
              <a:buNone/>
            </a:pPr>
            <a:r>
              <a:rPr lang="en-US" sz="850" dirty="0">
                <a:solidFill>
                  <a:srgbClr val="64748B"/>
                </a:solidFill>
              </a:rPr>
              <a:t>45,000</a:t>
            </a:r>
            <a:endParaRPr lang="en-US" sz="850" dirty="0"/>
          </a:p>
        </p:txBody>
      </p:sp>
      <p:sp>
        <p:nvSpPr>
          <p:cNvPr id="43" name="Shape 41"/>
          <p:cNvSpPr/>
          <p:nvPr/>
        </p:nvSpPr>
        <p:spPr>
          <a:xfrm>
            <a:off x="5486400" y="3858768"/>
            <a:ext cx="868680" cy="292608"/>
          </a:xfrm>
          <a:prstGeom prst="rect">
            <a:avLst/>
          </a:prstGeom>
          <a:solidFill>
            <a:srgbClr val="1E3A6E"/>
          </a:solidFill>
          <a:ln/>
        </p:spPr>
      </p:sp>
      <p:sp>
        <p:nvSpPr>
          <p:cNvPr id="44" name="Text 42"/>
          <p:cNvSpPr/>
          <p:nvPr/>
        </p:nvSpPr>
        <p:spPr>
          <a:xfrm>
            <a:off x="5541264" y="3877056"/>
            <a:ext cx="777240" cy="256032"/>
          </a:xfrm>
          <a:prstGeom prst="rect">
            <a:avLst/>
          </a:prstGeom>
          <a:noFill/>
          <a:ln/>
        </p:spPr>
        <p:txBody>
          <a:bodyPr wrap="square" lIns="0" tIns="0" rIns="0" bIns="0" rtlCol="0" anchor="ctr"/>
          <a:lstStyle/>
          <a:p>
            <a:pPr indent="0" marL="0">
              <a:buNone/>
            </a:pPr>
            <a:r>
              <a:rPr lang="en-US" sz="950" b="1" dirty="0">
                <a:solidFill>
                  <a:srgbClr val="FFFFFF"/>
                </a:solidFill>
              </a:rPr>
              <a:t>仕入単価</a:t>
            </a:r>
            <a:endParaRPr lang="en-US" sz="950" dirty="0"/>
          </a:p>
        </p:txBody>
      </p:sp>
      <p:sp>
        <p:nvSpPr>
          <p:cNvPr id="45" name="Shape 43"/>
          <p:cNvSpPr/>
          <p:nvPr/>
        </p:nvSpPr>
        <p:spPr>
          <a:xfrm>
            <a:off x="5486400" y="4178808"/>
            <a:ext cx="868680" cy="292608"/>
          </a:xfrm>
          <a:prstGeom prst="rect">
            <a:avLst/>
          </a:prstGeom>
          <a:solidFill>
            <a:srgbClr val="FFFFFF"/>
          </a:solidFill>
          <a:ln w="6350">
            <a:solidFill>
              <a:srgbClr val="CBD5E1"/>
            </a:solidFill>
            <a:prstDash val="solid"/>
          </a:ln>
        </p:spPr>
      </p:sp>
      <p:sp>
        <p:nvSpPr>
          <p:cNvPr id="46" name="Text 44"/>
          <p:cNvSpPr/>
          <p:nvPr/>
        </p:nvSpPr>
        <p:spPr>
          <a:xfrm>
            <a:off x="5541264" y="4197096"/>
            <a:ext cx="777240" cy="256032"/>
          </a:xfrm>
          <a:prstGeom prst="rect">
            <a:avLst/>
          </a:prstGeom>
          <a:noFill/>
          <a:ln/>
        </p:spPr>
        <p:txBody>
          <a:bodyPr wrap="square" lIns="0" tIns="0" rIns="0" bIns="0" rtlCol="0" anchor="ctr"/>
          <a:lstStyle/>
          <a:p>
            <a:pPr indent="0" marL="0">
              <a:buNone/>
            </a:pPr>
            <a:r>
              <a:rPr lang="en-US" sz="850" dirty="0">
                <a:solidFill>
                  <a:srgbClr val="64748B"/>
                </a:solidFill>
              </a:rPr>
              <a:t>32,000</a:t>
            </a:r>
            <a:endParaRPr lang="en-US" sz="850" dirty="0"/>
          </a:p>
        </p:txBody>
      </p:sp>
      <p:sp>
        <p:nvSpPr>
          <p:cNvPr id="47" name="Shape 45"/>
          <p:cNvSpPr/>
          <p:nvPr/>
        </p:nvSpPr>
        <p:spPr>
          <a:xfrm>
            <a:off x="6400800" y="3858768"/>
            <a:ext cx="960120" cy="292608"/>
          </a:xfrm>
          <a:prstGeom prst="rect">
            <a:avLst/>
          </a:prstGeom>
          <a:solidFill>
            <a:srgbClr val="1E3A6E"/>
          </a:solidFill>
          <a:ln/>
        </p:spPr>
      </p:sp>
      <p:sp>
        <p:nvSpPr>
          <p:cNvPr id="48" name="Text 46"/>
          <p:cNvSpPr/>
          <p:nvPr/>
        </p:nvSpPr>
        <p:spPr>
          <a:xfrm>
            <a:off x="6455664" y="3877056"/>
            <a:ext cx="868680" cy="256032"/>
          </a:xfrm>
          <a:prstGeom prst="rect">
            <a:avLst/>
          </a:prstGeom>
          <a:noFill/>
          <a:ln/>
        </p:spPr>
        <p:txBody>
          <a:bodyPr wrap="square" lIns="0" tIns="0" rIns="0" bIns="0" rtlCol="0" anchor="ctr"/>
          <a:lstStyle/>
          <a:p>
            <a:pPr indent="0" marL="0">
              <a:buNone/>
            </a:pPr>
            <a:r>
              <a:rPr lang="en-US" sz="950" b="1" dirty="0">
                <a:solidFill>
                  <a:srgbClr val="FFFFFF"/>
                </a:solidFill>
              </a:rPr>
              <a:t>カテゴリ</a:t>
            </a:r>
            <a:endParaRPr lang="en-US" sz="950" dirty="0"/>
          </a:p>
        </p:txBody>
      </p:sp>
      <p:sp>
        <p:nvSpPr>
          <p:cNvPr id="49" name="Shape 47"/>
          <p:cNvSpPr/>
          <p:nvPr/>
        </p:nvSpPr>
        <p:spPr>
          <a:xfrm>
            <a:off x="6400800" y="4178808"/>
            <a:ext cx="960120" cy="292608"/>
          </a:xfrm>
          <a:prstGeom prst="rect">
            <a:avLst/>
          </a:prstGeom>
          <a:solidFill>
            <a:srgbClr val="FFFFFF"/>
          </a:solidFill>
          <a:ln w="6350">
            <a:solidFill>
              <a:srgbClr val="CBD5E1"/>
            </a:solidFill>
            <a:prstDash val="solid"/>
          </a:ln>
        </p:spPr>
      </p:sp>
      <p:sp>
        <p:nvSpPr>
          <p:cNvPr id="50" name="Text 48"/>
          <p:cNvSpPr/>
          <p:nvPr/>
        </p:nvSpPr>
        <p:spPr>
          <a:xfrm>
            <a:off x="6455664" y="4197096"/>
            <a:ext cx="868680" cy="256032"/>
          </a:xfrm>
          <a:prstGeom prst="rect">
            <a:avLst/>
          </a:prstGeom>
          <a:noFill/>
          <a:ln/>
        </p:spPr>
        <p:txBody>
          <a:bodyPr wrap="square" lIns="0" tIns="0" rIns="0" bIns="0" rtlCol="0" anchor="ctr"/>
          <a:lstStyle/>
          <a:p>
            <a:pPr indent="0" marL="0">
              <a:buNone/>
            </a:pPr>
            <a:r>
              <a:rPr lang="en-US" sz="850" dirty="0">
                <a:solidFill>
                  <a:srgbClr val="64748B"/>
                </a:solidFill>
              </a:rPr>
              <a:t>材料費</a:t>
            </a:r>
            <a:endParaRPr lang="en-US" sz="850" dirty="0"/>
          </a:p>
        </p:txBody>
      </p:sp>
      <p:sp>
        <p:nvSpPr>
          <p:cNvPr id="51" name="Shape 49"/>
          <p:cNvSpPr/>
          <p:nvPr/>
        </p:nvSpPr>
        <p:spPr>
          <a:xfrm>
            <a:off x="7406640" y="3858768"/>
            <a:ext cx="960120" cy="292608"/>
          </a:xfrm>
          <a:prstGeom prst="rect">
            <a:avLst/>
          </a:prstGeom>
          <a:solidFill>
            <a:srgbClr val="1E3A6E"/>
          </a:solidFill>
          <a:ln/>
        </p:spPr>
      </p:sp>
      <p:sp>
        <p:nvSpPr>
          <p:cNvPr id="52" name="Text 50"/>
          <p:cNvSpPr/>
          <p:nvPr/>
        </p:nvSpPr>
        <p:spPr>
          <a:xfrm>
            <a:off x="7461504" y="3877056"/>
            <a:ext cx="868680" cy="256032"/>
          </a:xfrm>
          <a:prstGeom prst="rect">
            <a:avLst/>
          </a:prstGeom>
          <a:noFill/>
          <a:ln/>
        </p:spPr>
        <p:txBody>
          <a:bodyPr wrap="square" lIns="0" tIns="0" rIns="0" bIns="0" rtlCol="0" anchor="ctr"/>
          <a:lstStyle/>
          <a:p>
            <a:pPr indent="0" marL="0">
              <a:buNone/>
            </a:pPr>
            <a:r>
              <a:rPr lang="en-US" sz="950" b="1" dirty="0">
                <a:solidFill>
                  <a:srgbClr val="FFFFFF"/>
                </a:solidFill>
              </a:rPr>
              <a:t>備考</a:t>
            </a:r>
            <a:endParaRPr lang="en-US" sz="950" dirty="0"/>
          </a:p>
        </p:txBody>
      </p:sp>
      <p:sp>
        <p:nvSpPr>
          <p:cNvPr id="53" name="Shape 51"/>
          <p:cNvSpPr/>
          <p:nvPr/>
        </p:nvSpPr>
        <p:spPr>
          <a:xfrm>
            <a:off x="7406640" y="4178808"/>
            <a:ext cx="960120" cy="292608"/>
          </a:xfrm>
          <a:prstGeom prst="rect">
            <a:avLst/>
          </a:prstGeom>
          <a:solidFill>
            <a:srgbClr val="FFFFFF"/>
          </a:solidFill>
          <a:ln w="6350">
            <a:solidFill>
              <a:srgbClr val="CBD5E1"/>
            </a:solidFill>
            <a:prstDash val="solid"/>
          </a:ln>
        </p:spPr>
      </p:sp>
      <p:sp>
        <p:nvSpPr>
          <p:cNvPr id="54" name="Text 52"/>
          <p:cNvSpPr/>
          <p:nvPr/>
        </p:nvSpPr>
        <p:spPr>
          <a:xfrm>
            <a:off x="7461504" y="4197096"/>
            <a:ext cx="868680" cy="256032"/>
          </a:xfrm>
          <a:prstGeom prst="rect">
            <a:avLst/>
          </a:prstGeom>
          <a:noFill/>
          <a:ln/>
        </p:spPr>
        <p:txBody>
          <a:bodyPr wrap="square" lIns="0" tIns="0" rIns="0" bIns="0" rtlCol="0" anchor="ctr"/>
          <a:lstStyle/>
          <a:p>
            <a:pP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DC2626"/>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09  ユーザー管理（管理者向け）</a:t>
            </a:r>
            <a:endParaRPr lang="en-US" sz="2000" dirty="0"/>
          </a:p>
        </p:txBody>
      </p:sp>
      <p:sp>
        <p:nvSpPr>
          <p:cNvPr id="5" name="Text 3"/>
          <p:cNvSpPr/>
          <p:nvPr/>
        </p:nvSpPr>
        <p:spPr>
          <a:xfrm>
            <a:off x="365760" y="804672"/>
            <a:ext cx="4114800" cy="365760"/>
          </a:xfrm>
          <a:prstGeom prst="rect">
            <a:avLst/>
          </a:prstGeom>
          <a:noFill/>
          <a:ln/>
        </p:spPr>
        <p:txBody>
          <a:bodyPr wrap="square" lIns="0" tIns="0" rIns="0" bIns="0" rtlCol="0" anchor="ctr"/>
          <a:lstStyle/>
          <a:p>
            <a:pPr indent="0" marL="0">
              <a:buNone/>
            </a:pPr>
            <a:r>
              <a:rPr lang="en-US" sz="1500" b="1" dirty="0">
                <a:solidFill>
                  <a:srgbClr val="1E3A6E"/>
                </a:solidFill>
                <a:latin typeface="Calibri" pitchFamily="34" charset="0"/>
                <a:ea typeface="Calibri" pitchFamily="34" charset="-122"/>
                <a:cs typeface="Calibri" pitchFamily="34" charset="-120"/>
              </a:rPr>
              <a:t>ユーザーの追加</a:t>
            </a:r>
            <a:endParaRPr lang="en-US" sz="1500" dirty="0"/>
          </a:p>
        </p:txBody>
      </p:sp>
      <p:sp>
        <p:nvSpPr>
          <p:cNvPr id="6" name="Shape 4"/>
          <p:cNvSpPr/>
          <p:nvPr/>
        </p:nvSpPr>
        <p:spPr>
          <a:xfrm>
            <a:off x="365760" y="1170432"/>
            <a:ext cx="4114800" cy="27432"/>
          </a:xfrm>
          <a:prstGeom prst="rect">
            <a:avLst/>
          </a:prstGeom>
          <a:solidFill>
            <a:srgbClr val="DC2626"/>
          </a:solidFill>
          <a:ln/>
        </p:spPr>
      </p:sp>
      <p:sp>
        <p:nvSpPr>
          <p:cNvPr id="7" name="Shape 5"/>
          <p:cNvSpPr/>
          <p:nvPr/>
        </p:nvSpPr>
        <p:spPr>
          <a:xfrm>
            <a:off x="365760" y="1280160"/>
            <a:ext cx="4114800" cy="566928"/>
          </a:xfrm>
          <a:prstGeom prst="rect">
            <a:avLst/>
          </a:prstGeom>
          <a:solidFill>
            <a:srgbClr val="EFF6FF"/>
          </a:solidFill>
          <a:ln w="6350">
            <a:solidFill>
              <a:srgbClr val="CBD5E1"/>
            </a:solidFill>
            <a:prstDash val="solid"/>
          </a:ln>
        </p:spPr>
      </p:sp>
      <p:sp>
        <p:nvSpPr>
          <p:cNvPr id="8" name="Shape 6"/>
          <p:cNvSpPr/>
          <p:nvPr/>
        </p:nvSpPr>
        <p:spPr>
          <a:xfrm>
            <a:off x="512064" y="1389888"/>
            <a:ext cx="320040" cy="320040"/>
          </a:xfrm>
          <a:prstGeom prst="ellipse">
            <a:avLst/>
          </a:prstGeom>
          <a:solidFill>
            <a:srgbClr val="DC2626"/>
          </a:solidFill>
          <a:ln/>
        </p:spPr>
      </p:sp>
      <p:sp>
        <p:nvSpPr>
          <p:cNvPr id="9" name="Text 7"/>
          <p:cNvSpPr/>
          <p:nvPr/>
        </p:nvSpPr>
        <p:spPr>
          <a:xfrm>
            <a:off x="512064" y="1389888"/>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8"/>
          <p:cNvSpPr/>
          <p:nvPr/>
        </p:nvSpPr>
        <p:spPr>
          <a:xfrm>
            <a:off x="932688" y="1371600"/>
            <a:ext cx="342900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「ユーザー管理」メニューへ移動</a:t>
            </a:r>
            <a:endParaRPr lang="en-US" sz="1100" dirty="0"/>
          </a:p>
        </p:txBody>
      </p:sp>
      <p:sp>
        <p:nvSpPr>
          <p:cNvPr id="11" name="Shape 9"/>
          <p:cNvSpPr/>
          <p:nvPr/>
        </p:nvSpPr>
        <p:spPr>
          <a:xfrm>
            <a:off x="365760" y="1938528"/>
            <a:ext cx="4114800" cy="566928"/>
          </a:xfrm>
          <a:prstGeom prst="rect">
            <a:avLst/>
          </a:prstGeom>
          <a:solidFill>
            <a:srgbClr val="FFFFFF"/>
          </a:solidFill>
          <a:ln w="6350">
            <a:solidFill>
              <a:srgbClr val="CBD5E1"/>
            </a:solidFill>
            <a:prstDash val="solid"/>
          </a:ln>
        </p:spPr>
      </p:sp>
      <p:sp>
        <p:nvSpPr>
          <p:cNvPr id="12" name="Shape 10"/>
          <p:cNvSpPr/>
          <p:nvPr/>
        </p:nvSpPr>
        <p:spPr>
          <a:xfrm>
            <a:off x="512064" y="2048256"/>
            <a:ext cx="320040" cy="320040"/>
          </a:xfrm>
          <a:prstGeom prst="ellipse">
            <a:avLst/>
          </a:prstGeom>
          <a:solidFill>
            <a:srgbClr val="DC2626"/>
          </a:solidFill>
          <a:ln/>
        </p:spPr>
      </p:sp>
      <p:sp>
        <p:nvSpPr>
          <p:cNvPr id="13" name="Text 11"/>
          <p:cNvSpPr/>
          <p:nvPr/>
        </p:nvSpPr>
        <p:spPr>
          <a:xfrm>
            <a:off x="512064" y="2048256"/>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2"/>
          <p:cNvSpPr/>
          <p:nvPr/>
        </p:nvSpPr>
        <p:spPr>
          <a:xfrm>
            <a:off x="932688" y="2029968"/>
            <a:ext cx="342900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右上「ユーザー追加」ボタンをクリック</a:t>
            </a:r>
            <a:endParaRPr lang="en-US" sz="1100" dirty="0"/>
          </a:p>
        </p:txBody>
      </p:sp>
      <p:sp>
        <p:nvSpPr>
          <p:cNvPr id="15" name="Shape 13"/>
          <p:cNvSpPr/>
          <p:nvPr/>
        </p:nvSpPr>
        <p:spPr>
          <a:xfrm>
            <a:off x="365760" y="2596896"/>
            <a:ext cx="4114800" cy="566928"/>
          </a:xfrm>
          <a:prstGeom prst="rect">
            <a:avLst/>
          </a:prstGeom>
          <a:solidFill>
            <a:srgbClr val="EFF6FF"/>
          </a:solidFill>
          <a:ln w="6350">
            <a:solidFill>
              <a:srgbClr val="CBD5E1"/>
            </a:solidFill>
            <a:prstDash val="solid"/>
          </a:ln>
        </p:spPr>
      </p:sp>
      <p:sp>
        <p:nvSpPr>
          <p:cNvPr id="16" name="Shape 14"/>
          <p:cNvSpPr/>
          <p:nvPr/>
        </p:nvSpPr>
        <p:spPr>
          <a:xfrm>
            <a:off x="512064" y="2706624"/>
            <a:ext cx="320040" cy="320040"/>
          </a:xfrm>
          <a:prstGeom prst="ellipse">
            <a:avLst/>
          </a:prstGeom>
          <a:solidFill>
            <a:srgbClr val="DC2626"/>
          </a:solidFill>
          <a:ln/>
        </p:spPr>
      </p:sp>
      <p:sp>
        <p:nvSpPr>
          <p:cNvPr id="17" name="Text 15"/>
          <p:cNvSpPr/>
          <p:nvPr/>
        </p:nvSpPr>
        <p:spPr>
          <a:xfrm>
            <a:off x="512064" y="2706624"/>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6"/>
          <p:cNvSpPr/>
          <p:nvPr/>
        </p:nvSpPr>
        <p:spPr>
          <a:xfrm>
            <a:off x="932688" y="2688336"/>
            <a:ext cx="342900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名前・メール・初期パスワード・権限を入力</a:t>
            </a:r>
            <a:endParaRPr lang="en-US" sz="1100" dirty="0"/>
          </a:p>
        </p:txBody>
      </p:sp>
      <p:sp>
        <p:nvSpPr>
          <p:cNvPr id="19" name="Shape 17"/>
          <p:cNvSpPr/>
          <p:nvPr/>
        </p:nvSpPr>
        <p:spPr>
          <a:xfrm>
            <a:off x="365760" y="3255264"/>
            <a:ext cx="4114800" cy="566928"/>
          </a:xfrm>
          <a:prstGeom prst="rect">
            <a:avLst/>
          </a:prstGeom>
          <a:solidFill>
            <a:srgbClr val="FFFFFF"/>
          </a:solidFill>
          <a:ln w="6350">
            <a:solidFill>
              <a:srgbClr val="CBD5E1"/>
            </a:solidFill>
            <a:prstDash val="solid"/>
          </a:ln>
        </p:spPr>
      </p:sp>
      <p:sp>
        <p:nvSpPr>
          <p:cNvPr id="20" name="Shape 18"/>
          <p:cNvSpPr/>
          <p:nvPr/>
        </p:nvSpPr>
        <p:spPr>
          <a:xfrm>
            <a:off x="512064" y="3364992"/>
            <a:ext cx="320040" cy="320040"/>
          </a:xfrm>
          <a:prstGeom prst="ellipse">
            <a:avLst/>
          </a:prstGeom>
          <a:solidFill>
            <a:srgbClr val="DC2626"/>
          </a:solidFill>
          <a:ln/>
        </p:spPr>
      </p:sp>
      <p:sp>
        <p:nvSpPr>
          <p:cNvPr id="21" name="Text 19"/>
          <p:cNvSpPr/>
          <p:nvPr/>
        </p:nvSpPr>
        <p:spPr>
          <a:xfrm>
            <a:off x="512064" y="3364992"/>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20"/>
          <p:cNvSpPr/>
          <p:nvPr/>
        </p:nvSpPr>
        <p:spPr>
          <a:xfrm>
            <a:off x="932688" y="3346704"/>
            <a:ext cx="342900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「作成」ボタンで完了</a:t>
            </a:r>
            <a:endParaRPr lang="en-US" sz="1100" dirty="0"/>
          </a:p>
        </p:txBody>
      </p:sp>
      <p:sp>
        <p:nvSpPr>
          <p:cNvPr id="23" name="Text 21"/>
          <p:cNvSpPr/>
          <p:nvPr/>
        </p:nvSpPr>
        <p:spPr>
          <a:xfrm>
            <a:off x="4846320" y="804672"/>
            <a:ext cx="3931920" cy="365760"/>
          </a:xfrm>
          <a:prstGeom prst="rect">
            <a:avLst/>
          </a:prstGeom>
          <a:noFill/>
          <a:ln/>
        </p:spPr>
        <p:txBody>
          <a:bodyPr wrap="square" lIns="0" tIns="0" rIns="0" bIns="0" rtlCol="0" anchor="ctr"/>
          <a:lstStyle/>
          <a:p>
            <a:pPr indent="0" marL="0">
              <a:buNone/>
            </a:pPr>
            <a:r>
              <a:rPr lang="en-US" sz="1500" b="1" dirty="0">
                <a:solidFill>
                  <a:srgbClr val="1E3A6E"/>
                </a:solidFill>
                <a:latin typeface="Calibri" pitchFamily="34" charset="0"/>
                <a:ea typeface="Calibri" pitchFamily="34" charset="-122"/>
                <a:cs typeface="Calibri" pitchFamily="34" charset="-120"/>
              </a:rPr>
              <a:t>ユーザー編集・管理</a:t>
            </a:r>
            <a:endParaRPr lang="en-US" sz="1500" dirty="0"/>
          </a:p>
        </p:txBody>
      </p:sp>
      <p:sp>
        <p:nvSpPr>
          <p:cNvPr id="24" name="Shape 22"/>
          <p:cNvSpPr/>
          <p:nvPr/>
        </p:nvSpPr>
        <p:spPr>
          <a:xfrm>
            <a:off x="4846320" y="1170432"/>
            <a:ext cx="3931920" cy="27432"/>
          </a:xfrm>
          <a:prstGeom prst="rect">
            <a:avLst/>
          </a:prstGeom>
          <a:solidFill>
            <a:srgbClr val="2563EB"/>
          </a:solidFill>
          <a:ln/>
        </p:spPr>
      </p:sp>
      <p:sp>
        <p:nvSpPr>
          <p:cNvPr id="25" name="Shape 23"/>
          <p:cNvSpPr/>
          <p:nvPr/>
        </p:nvSpPr>
        <p:spPr>
          <a:xfrm>
            <a:off x="4846320" y="1280160"/>
            <a:ext cx="3931920" cy="566928"/>
          </a:xfrm>
          <a:prstGeom prst="rect">
            <a:avLst/>
          </a:prstGeom>
          <a:solidFill>
            <a:srgbClr val="EFF6FF"/>
          </a:solidFill>
          <a:ln w="6350">
            <a:solidFill>
              <a:srgbClr val="CBD5E1"/>
            </a:solidFill>
            <a:prstDash val="solid"/>
          </a:ln>
        </p:spPr>
      </p:sp>
      <p:sp>
        <p:nvSpPr>
          <p:cNvPr id="26" name="Text 24"/>
          <p:cNvSpPr/>
          <p:nvPr/>
        </p:nvSpPr>
        <p:spPr>
          <a:xfrm>
            <a:off x="4983480" y="1353312"/>
            <a:ext cx="457200"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5532120" y="1353312"/>
            <a:ext cx="1371600" cy="292608"/>
          </a:xfrm>
          <a:prstGeom prst="rect">
            <a:avLst/>
          </a:prstGeom>
          <a:noFill/>
          <a:ln/>
        </p:spPr>
        <p:txBody>
          <a:bodyPr wrap="square" lIns="0" tIns="0" rIns="0" bIns="0" rtlCol="0" anchor="ctr"/>
          <a:lstStyle/>
          <a:p>
            <a:pPr indent="0" marL="0">
              <a:buNone/>
            </a:pPr>
            <a:r>
              <a:rPr lang="en-US" sz="1150" b="1" dirty="0">
                <a:solidFill>
                  <a:srgbClr val="1E3A6E"/>
                </a:solidFill>
                <a:latin typeface="Calibri" pitchFamily="34" charset="0"/>
                <a:ea typeface="Calibri" pitchFamily="34" charset="-122"/>
                <a:cs typeface="Calibri" pitchFamily="34" charset="-120"/>
              </a:rPr>
              <a:t>情報変更</a:t>
            </a:r>
            <a:endParaRPr lang="en-US" sz="1150" dirty="0"/>
          </a:p>
        </p:txBody>
      </p:sp>
      <p:sp>
        <p:nvSpPr>
          <p:cNvPr id="28" name="Text 26"/>
          <p:cNvSpPr/>
          <p:nvPr/>
        </p:nvSpPr>
        <p:spPr>
          <a:xfrm>
            <a:off x="5532120" y="1645920"/>
            <a:ext cx="31089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名前・権限・顔写真・サインを変更</a:t>
            </a:r>
            <a:endParaRPr lang="en-US" sz="950" dirty="0"/>
          </a:p>
        </p:txBody>
      </p:sp>
      <p:sp>
        <p:nvSpPr>
          <p:cNvPr id="29" name="Shape 27"/>
          <p:cNvSpPr/>
          <p:nvPr/>
        </p:nvSpPr>
        <p:spPr>
          <a:xfrm>
            <a:off x="4846320" y="1938528"/>
            <a:ext cx="3931920" cy="566928"/>
          </a:xfrm>
          <a:prstGeom prst="rect">
            <a:avLst/>
          </a:prstGeom>
          <a:solidFill>
            <a:srgbClr val="FFFFFF"/>
          </a:solidFill>
          <a:ln w="6350">
            <a:solidFill>
              <a:srgbClr val="CBD5E1"/>
            </a:solidFill>
            <a:prstDash val="solid"/>
          </a:ln>
        </p:spPr>
      </p:sp>
      <p:sp>
        <p:nvSpPr>
          <p:cNvPr id="30" name="Text 28"/>
          <p:cNvSpPr/>
          <p:nvPr/>
        </p:nvSpPr>
        <p:spPr>
          <a:xfrm>
            <a:off x="4983480" y="2011680"/>
            <a:ext cx="457200"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1" name="Text 29"/>
          <p:cNvSpPr/>
          <p:nvPr/>
        </p:nvSpPr>
        <p:spPr>
          <a:xfrm>
            <a:off x="5532120" y="2011680"/>
            <a:ext cx="1371600" cy="292608"/>
          </a:xfrm>
          <a:prstGeom prst="rect">
            <a:avLst/>
          </a:prstGeom>
          <a:noFill/>
          <a:ln/>
        </p:spPr>
        <p:txBody>
          <a:bodyPr wrap="square" lIns="0" tIns="0" rIns="0" bIns="0" rtlCol="0" anchor="ctr"/>
          <a:lstStyle/>
          <a:p>
            <a:pPr indent="0" marL="0">
              <a:buNone/>
            </a:pPr>
            <a:r>
              <a:rPr lang="en-US" sz="1150" b="1" dirty="0">
                <a:solidFill>
                  <a:srgbClr val="1E3A6E"/>
                </a:solidFill>
                <a:latin typeface="Calibri" pitchFamily="34" charset="0"/>
                <a:ea typeface="Calibri" pitchFamily="34" charset="-122"/>
                <a:cs typeface="Calibri" pitchFamily="34" charset="-120"/>
              </a:rPr>
              <a:t>パスワード変更</a:t>
            </a:r>
            <a:endParaRPr lang="en-US" sz="1150" dirty="0"/>
          </a:p>
        </p:txBody>
      </p:sp>
      <p:sp>
        <p:nvSpPr>
          <p:cNvPr id="32" name="Text 30"/>
          <p:cNvSpPr/>
          <p:nvPr/>
        </p:nvSpPr>
        <p:spPr>
          <a:xfrm>
            <a:off x="5532120" y="2304288"/>
            <a:ext cx="31089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（特権管理者のみ）他ユーザーのPW変更</a:t>
            </a:r>
            <a:endParaRPr lang="en-US" sz="950" dirty="0"/>
          </a:p>
        </p:txBody>
      </p:sp>
      <p:sp>
        <p:nvSpPr>
          <p:cNvPr id="33" name="Shape 31"/>
          <p:cNvSpPr/>
          <p:nvPr/>
        </p:nvSpPr>
        <p:spPr>
          <a:xfrm>
            <a:off x="4846320" y="2596896"/>
            <a:ext cx="3931920" cy="566928"/>
          </a:xfrm>
          <a:prstGeom prst="rect">
            <a:avLst/>
          </a:prstGeom>
          <a:solidFill>
            <a:srgbClr val="EFF6FF"/>
          </a:solidFill>
          <a:ln w="6350">
            <a:solidFill>
              <a:srgbClr val="CBD5E1"/>
            </a:solidFill>
            <a:prstDash val="solid"/>
          </a:ln>
        </p:spPr>
      </p:sp>
      <p:sp>
        <p:nvSpPr>
          <p:cNvPr id="34" name="Text 32"/>
          <p:cNvSpPr/>
          <p:nvPr/>
        </p:nvSpPr>
        <p:spPr>
          <a:xfrm>
            <a:off x="4983480" y="2670048"/>
            <a:ext cx="457200"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5532120" y="2670048"/>
            <a:ext cx="1371600" cy="292608"/>
          </a:xfrm>
          <a:prstGeom prst="rect">
            <a:avLst/>
          </a:prstGeom>
          <a:noFill/>
          <a:ln/>
        </p:spPr>
        <p:txBody>
          <a:bodyPr wrap="square" lIns="0" tIns="0" rIns="0" bIns="0" rtlCol="0" anchor="ctr"/>
          <a:lstStyle/>
          <a:p>
            <a:pPr indent="0" marL="0">
              <a:buNone/>
            </a:pPr>
            <a:r>
              <a:rPr lang="en-US" sz="1150" b="1" dirty="0">
                <a:solidFill>
                  <a:srgbClr val="1E3A6E"/>
                </a:solidFill>
                <a:latin typeface="Calibri" pitchFamily="34" charset="0"/>
                <a:ea typeface="Calibri" pitchFamily="34" charset="-122"/>
                <a:cs typeface="Calibri" pitchFamily="34" charset="-120"/>
              </a:rPr>
              <a:t>一時停止</a:t>
            </a:r>
            <a:endParaRPr lang="en-US" sz="1150" dirty="0"/>
          </a:p>
        </p:txBody>
      </p:sp>
      <p:sp>
        <p:nvSpPr>
          <p:cNvPr id="36" name="Text 34"/>
          <p:cNvSpPr/>
          <p:nvPr/>
        </p:nvSpPr>
        <p:spPr>
          <a:xfrm>
            <a:off x="5532120" y="2962656"/>
            <a:ext cx="31089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ログインを一時的に無効化</a:t>
            </a:r>
            <a:endParaRPr lang="en-US" sz="950" dirty="0"/>
          </a:p>
        </p:txBody>
      </p:sp>
      <p:sp>
        <p:nvSpPr>
          <p:cNvPr id="37" name="Shape 35"/>
          <p:cNvSpPr/>
          <p:nvPr/>
        </p:nvSpPr>
        <p:spPr>
          <a:xfrm>
            <a:off x="4846320" y="3255264"/>
            <a:ext cx="3931920" cy="566928"/>
          </a:xfrm>
          <a:prstGeom prst="rect">
            <a:avLst/>
          </a:prstGeom>
          <a:solidFill>
            <a:srgbClr val="FFFFFF"/>
          </a:solidFill>
          <a:ln w="6350">
            <a:solidFill>
              <a:srgbClr val="CBD5E1"/>
            </a:solidFill>
            <a:prstDash val="solid"/>
          </a:ln>
        </p:spPr>
      </p:sp>
      <p:sp>
        <p:nvSpPr>
          <p:cNvPr id="38" name="Text 36"/>
          <p:cNvSpPr/>
          <p:nvPr/>
        </p:nvSpPr>
        <p:spPr>
          <a:xfrm>
            <a:off x="4983480" y="3328416"/>
            <a:ext cx="457200"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9" name="Text 37"/>
          <p:cNvSpPr/>
          <p:nvPr/>
        </p:nvSpPr>
        <p:spPr>
          <a:xfrm>
            <a:off x="5532120" y="3328416"/>
            <a:ext cx="1371600" cy="292608"/>
          </a:xfrm>
          <a:prstGeom prst="rect">
            <a:avLst/>
          </a:prstGeom>
          <a:noFill/>
          <a:ln/>
        </p:spPr>
        <p:txBody>
          <a:bodyPr wrap="square" lIns="0" tIns="0" rIns="0" bIns="0" rtlCol="0" anchor="ctr"/>
          <a:lstStyle/>
          <a:p>
            <a:pPr indent="0" marL="0">
              <a:buNone/>
            </a:pPr>
            <a:r>
              <a:rPr lang="en-US" sz="1150" b="1" dirty="0">
                <a:solidFill>
                  <a:srgbClr val="1E3A6E"/>
                </a:solidFill>
                <a:latin typeface="Calibri" pitchFamily="34" charset="0"/>
                <a:ea typeface="Calibri" pitchFamily="34" charset="-122"/>
                <a:cs typeface="Calibri" pitchFamily="34" charset="-120"/>
              </a:rPr>
              <a:t>削除</a:t>
            </a:r>
            <a:endParaRPr lang="en-US" sz="1150" dirty="0"/>
          </a:p>
        </p:txBody>
      </p:sp>
      <p:sp>
        <p:nvSpPr>
          <p:cNvPr id="40" name="Text 38"/>
          <p:cNvSpPr/>
          <p:nvPr/>
        </p:nvSpPr>
        <p:spPr>
          <a:xfrm>
            <a:off x="5532120" y="3621024"/>
            <a:ext cx="31089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ユーザーを完全に削除（取消不可）</a:t>
            </a:r>
            <a:endParaRPr lang="en-US" sz="950" dirty="0"/>
          </a:p>
        </p:txBody>
      </p:sp>
      <p:sp>
        <p:nvSpPr>
          <p:cNvPr id="41" name="Shape 39"/>
          <p:cNvSpPr/>
          <p:nvPr/>
        </p:nvSpPr>
        <p:spPr>
          <a:xfrm>
            <a:off x="4846320" y="3913632"/>
            <a:ext cx="3931920" cy="566928"/>
          </a:xfrm>
          <a:prstGeom prst="rect">
            <a:avLst/>
          </a:prstGeom>
          <a:solidFill>
            <a:srgbClr val="EFF6FF"/>
          </a:solidFill>
          <a:ln w="6350">
            <a:solidFill>
              <a:srgbClr val="CBD5E1"/>
            </a:solidFill>
            <a:prstDash val="solid"/>
          </a:ln>
        </p:spPr>
      </p:sp>
      <p:sp>
        <p:nvSpPr>
          <p:cNvPr id="42" name="Text 40"/>
          <p:cNvSpPr/>
          <p:nvPr/>
        </p:nvSpPr>
        <p:spPr>
          <a:xfrm>
            <a:off x="4983480" y="3986784"/>
            <a:ext cx="457200" cy="420624"/>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3" name="Text 41"/>
          <p:cNvSpPr/>
          <p:nvPr/>
        </p:nvSpPr>
        <p:spPr>
          <a:xfrm>
            <a:off x="5532120" y="3986784"/>
            <a:ext cx="1371600" cy="292608"/>
          </a:xfrm>
          <a:prstGeom prst="rect">
            <a:avLst/>
          </a:prstGeom>
          <a:noFill/>
          <a:ln/>
        </p:spPr>
        <p:txBody>
          <a:bodyPr wrap="square" lIns="0" tIns="0" rIns="0" bIns="0" rtlCol="0" anchor="ctr"/>
          <a:lstStyle/>
          <a:p>
            <a:pPr indent="0" marL="0">
              <a:buNone/>
            </a:pPr>
            <a:r>
              <a:rPr lang="en-US" sz="1150" b="1" dirty="0">
                <a:solidFill>
                  <a:srgbClr val="1E3A6E"/>
                </a:solidFill>
                <a:latin typeface="Calibri" pitchFamily="34" charset="0"/>
                <a:ea typeface="Calibri" pitchFamily="34" charset="-122"/>
                <a:cs typeface="Calibri" pitchFamily="34" charset="-120"/>
              </a:rPr>
              <a:t>並べ替え</a:t>
            </a:r>
            <a:endParaRPr lang="en-US" sz="1150" dirty="0"/>
          </a:p>
        </p:txBody>
      </p:sp>
      <p:sp>
        <p:nvSpPr>
          <p:cNvPr id="44" name="Text 42"/>
          <p:cNvSpPr/>
          <p:nvPr/>
        </p:nvSpPr>
        <p:spPr>
          <a:xfrm>
            <a:off x="5532120" y="4279392"/>
            <a:ext cx="31089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▲▼で表示順を変更</a:t>
            </a:r>
            <a:endParaRPr lang="en-US" sz="950" dirty="0"/>
          </a:p>
        </p:txBody>
      </p:sp>
      <p:sp>
        <p:nvSpPr>
          <p:cNvPr id="45" name="Shape 43"/>
          <p:cNvSpPr/>
          <p:nvPr/>
        </p:nvSpPr>
        <p:spPr>
          <a:xfrm>
            <a:off x="365760" y="4636008"/>
            <a:ext cx="8412480" cy="530352"/>
          </a:xfrm>
          <a:prstGeom prst="rect">
            <a:avLst/>
          </a:prstGeom>
          <a:solidFill>
            <a:srgbClr val="EFF6FF"/>
          </a:solidFill>
          <a:ln w="12700">
            <a:solidFill>
              <a:srgbClr val="DC2626"/>
            </a:solidFill>
            <a:prstDash val="solid"/>
          </a:ln>
        </p:spPr>
      </p:sp>
      <p:sp>
        <p:nvSpPr>
          <p:cNvPr id="46" name="Text 44"/>
          <p:cNvSpPr/>
          <p:nvPr/>
        </p:nvSpPr>
        <p:spPr>
          <a:xfrm>
            <a:off x="475488" y="4672584"/>
            <a:ext cx="822960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特権管理者のみが他ユーザーのパスワード変更・削除を行えます。一般ユーザーには操作ボタンが表示されません。</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0EA5E9"/>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10  個人設定（全ユーザー対応）</a:t>
            </a:r>
            <a:endParaRPr lang="en-US" sz="2000" dirty="0"/>
          </a:p>
        </p:txBody>
      </p:sp>
      <p:sp>
        <p:nvSpPr>
          <p:cNvPr id="5" name="Text 3"/>
          <p:cNvSpPr/>
          <p:nvPr/>
        </p:nvSpPr>
        <p:spPr>
          <a:xfrm>
            <a:off x="457200" y="777240"/>
            <a:ext cx="8229600" cy="34747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サイドバーの「個人設定」から、自分のサイン画像とパスワードを変更できます。</a:t>
            </a:r>
            <a:endParaRPr lang="en-US" sz="1150" dirty="0"/>
          </a:p>
        </p:txBody>
      </p:sp>
      <p:sp>
        <p:nvSpPr>
          <p:cNvPr id="6" name="Shape 4"/>
          <p:cNvSpPr/>
          <p:nvPr/>
        </p:nvSpPr>
        <p:spPr>
          <a:xfrm>
            <a:off x="457200" y="1234440"/>
            <a:ext cx="4023360" cy="3566160"/>
          </a:xfrm>
          <a:prstGeom prst="rect">
            <a:avLst/>
          </a:prstGeom>
          <a:solidFill>
            <a:srgbClr val="F8FAFC"/>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57200" y="1234440"/>
            <a:ext cx="4023360" cy="457200"/>
          </a:xfrm>
          <a:prstGeom prst="rect">
            <a:avLst/>
          </a:prstGeom>
          <a:solidFill>
            <a:srgbClr val="0EA5E9"/>
          </a:solidFill>
          <a:ln/>
        </p:spPr>
      </p:sp>
      <p:sp>
        <p:nvSpPr>
          <p:cNvPr id="8" name="Text 6"/>
          <p:cNvSpPr/>
          <p:nvPr/>
        </p:nvSpPr>
        <p:spPr>
          <a:xfrm>
            <a:off x="594360" y="1261872"/>
            <a:ext cx="379476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サイン画像の登録</a:t>
            </a:r>
            <a:endParaRPr lang="en-US" sz="1400" dirty="0"/>
          </a:p>
        </p:txBody>
      </p:sp>
      <p:sp>
        <p:nvSpPr>
          <p:cNvPr id="9" name="Text 7"/>
          <p:cNvSpPr/>
          <p:nvPr/>
        </p:nvSpPr>
        <p:spPr>
          <a:xfrm>
            <a:off x="640080" y="1828800"/>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「個人設定」メニューを開く</a:t>
            </a:r>
            <a:endParaRPr lang="en-US" sz="1100" dirty="0"/>
          </a:p>
        </p:txBody>
      </p:sp>
      <p:sp>
        <p:nvSpPr>
          <p:cNvPr id="10" name="Text 8"/>
          <p:cNvSpPr/>
          <p:nvPr/>
        </p:nvSpPr>
        <p:spPr>
          <a:xfrm>
            <a:off x="640080" y="2340864"/>
            <a:ext cx="3703320" cy="43891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「サイン画像」エリアをクリック</a:t>
            </a:r>
            <a:endParaRPr lang="en-US" sz="1100" dirty="0"/>
          </a:p>
        </p:txBody>
      </p:sp>
      <p:sp>
        <p:nvSpPr>
          <p:cNvPr id="11" name="Text 9"/>
          <p:cNvSpPr/>
          <p:nvPr/>
        </p:nvSpPr>
        <p:spPr>
          <a:xfrm>
            <a:off x="640080" y="2852928"/>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透過PNG推奨の画像ファイルを選択</a:t>
            </a:r>
            <a:endParaRPr lang="en-US" sz="1100" dirty="0"/>
          </a:p>
        </p:txBody>
      </p:sp>
      <p:sp>
        <p:nvSpPr>
          <p:cNvPr id="12" name="Text 10"/>
          <p:cNvSpPr/>
          <p:nvPr/>
        </p:nvSpPr>
        <p:spPr>
          <a:xfrm>
            <a:off x="640080" y="3364992"/>
            <a:ext cx="3703320" cy="43891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「保存」ボタンをクリック</a:t>
            </a:r>
            <a:endParaRPr lang="en-US" sz="1100" dirty="0"/>
          </a:p>
        </p:txBody>
      </p:sp>
      <p:sp>
        <p:nvSpPr>
          <p:cNvPr id="13" name="Text 11"/>
          <p:cNvSpPr/>
          <p:nvPr/>
        </p:nvSpPr>
        <p:spPr>
          <a:xfrm>
            <a:off x="640080" y="3877056"/>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印刷時の見積書に自動表示される</a:t>
            </a:r>
            <a:endParaRPr lang="en-US" sz="1100" dirty="0"/>
          </a:p>
        </p:txBody>
      </p:sp>
      <p:sp>
        <p:nvSpPr>
          <p:cNvPr id="14" name="Shape 12"/>
          <p:cNvSpPr/>
          <p:nvPr/>
        </p:nvSpPr>
        <p:spPr>
          <a:xfrm>
            <a:off x="640080" y="4297680"/>
            <a:ext cx="3566160" cy="365760"/>
          </a:xfrm>
          <a:prstGeom prst="rect">
            <a:avLst/>
          </a:prstGeom>
          <a:solidFill>
            <a:srgbClr val="E0F2FE"/>
          </a:solidFill>
          <a:ln w="10160">
            <a:solidFill>
              <a:srgbClr val="0EA5E9"/>
            </a:solidFill>
            <a:prstDash val="solid"/>
          </a:ln>
        </p:spPr>
      </p:sp>
      <p:sp>
        <p:nvSpPr>
          <p:cNvPr id="15" name="Text 13"/>
          <p:cNvSpPr/>
          <p:nvPr/>
        </p:nvSpPr>
        <p:spPr>
          <a:xfrm>
            <a:off x="731520" y="4325112"/>
            <a:ext cx="3383280" cy="310896"/>
          </a:xfrm>
          <a:prstGeom prst="rect">
            <a:avLst/>
          </a:prstGeom>
          <a:noFill/>
          <a:ln/>
        </p:spPr>
        <p:txBody>
          <a:bodyPr wrap="square" lIns="0" tIns="0" rIns="0" bIns="0" rtlCol="0" anchor="ctr"/>
          <a:lstStyle/>
          <a:p>
            <a:pPr indent="0" marL="0">
              <a:buNone/>
            </a:pPr>
            <a:r>
              <a:rPr lang="en-US" sz="950" dirty="0">
                <a:solidFill>
                  <a:srgbClr val="1E3A6E"/>
                </a:solidFill>
                <a:latin typeface="Calibri" pitchFamily="34" charset="0"/>
                <a:ea typeface="Calibri" pitchFamily="34" charset="-122"/>
                <a:cs typeface="Calibri" pitchFamily="34" charset="-120"/>
              </a:rPr>
              <a:t>💡  ドラッグ＆ドロップでも画像を登録できます</a:t>
            </a:r>
            <a:endParaRPr lang="en-US" sz="950" dirty="0"/>
          </a:p>
        </p:txBody>
      </p:sp>
      <p:sp>
        <p:nvSpPr>
          <p:cNvPr id="16" name="Shape 14"/>
          <p:cNvSpPr/>
          <p:nvPr/>
        </p:nvSpPr>
        <p:spPr>
          <a:xfrm>
            <a:off x="4663440" y="1234440"/>
            <a:ext cx="4023360" cy="3566160"/>
          </a:xfrm>
          <a:prstGeom prst="rect">
            <a:avLst/>
          </a:prstGeom>
          <a:solidFill>
            <a:srgbClr val="F8FAFC"/>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17" name="Shape 15"/>
          <p:cNvSpPr/>
          <p:nvPr/>
        </p:nvSpPr>
        <p:spPr>
          <a:xfrm>
            <a:off x="4663440" y="1234440"/>
            <a:ext cx="4023360" cy="457200"/>
          </a:xfrm>
          <a:prstGeom prst="rect">
            <a:avLst/>
          </a:prstGeom>
          <a:solidFill>
            <a:srgbClr val="1E40AF"/>
          </a:solidFill>
          <a:ln/>
        </p:spPr>
      </p:sp>
      <p:sp>
        <p:nvSpPr>
          <p:cNvPr id="18" name="Text 16"/>
          <p:cNvSpPr/>
          <p:nvPr/>
        </p:nvSpPr>
        <p:spPr>
          <a:xfrm>
            <a:off x="4800600" y="1261872"/>
            <a:ext cx="3794760"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  パスワード変更</a:t>
            </a:r>
            <a:endParaRPr lang="en-US" sz="1400" dirty="0"/>
          </a:p>
        </p:txBody>
      </p:sp>
      <p:sp>
        <p:nvSpPr>
          <p:cNvPr id="19" name="Text 17"/>
          <p:cNvSpPr/>
          <p:nvPr/>
        </p:nvSpPr>
        <p:spPr>
          <a:xfrm>
            <a:off x="4846320" y="1828800"/>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「個人設定」メニューを開く</a:t>
            </a:r>
            <a:endParaRPr lang="en-US" sz="1100" dirty="0"/>
          </a:p>
        </p:txBody>
      </p:sp>
      <p:sp>
        <p:nvSpPr>
          <p:cNvPr id="20" name="Text 18"/>
          <p:cNvSpPr/>
          <p:nvPr/>
        </p:nvSpPr>
        <p:spPr>
          <a:xfrm>
            <a:off x="4846320" y="2340864"/>
            <a:ext cx="3703320" cy="43891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「パスワード変更」セクションへ</a:t>
            </a:r>
            <a:endParaRPr lang="en-US" sz="1100" dirty="0"/>
          </a:p>
        </p:txBody>
      </p:sp>
      <p:sp>
        <p:nvSpPr>
          <p:cNvPr id="21" name="Text 19"/>
          <p:cNvSpPr/>
          <p:nvPr/>
        </p:nvSpPr>
        <p:spPr>
          <a:xfrm>
            <a:off x="4846320" y="2852928"/>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現在のパスワードを入力</a:t>
            </a:r>
            <a:endParaRPr lang="en-US" sz="1100" dirty="0"/>
          </a:p>
        </p:txBody>
      </p:sp>
      <p:sp>
        <p:nvSpPr>
          <p:cNvPr id="22" name="Text 20"/>
          <p:cNvSpPr/>
          <p:nvPr/>
        </p:nvSpPr>
        <p:spPr>
          <a:xfrm>
            <a:off x="4846320" y="3364992"/>
            <a:ext cx="3703320" cy="438912"/>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新しいパスワードを入力（6文字以上）</a:t>
            </a:r>
            <a:endParaRPr lang="en-US" sz="1100" dirty="0"/>
          </a:p>
        </p:txBody>
      </p:sp>
      <p:sp>
        <p:nvSpPr>
          <p:cNvPr id="23" name="Text 21"/>
          <p:cNvSpPr/>
          <p:nvPr/>
        </p:nvSpPr>
        <p:spPr>
          <a:xfrm>
            <a:off x="4846320" y="3877056"/>
            <a:ext cx="3703320" cy="43891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確認入力後「変更」ボタンをクリック</a:t>
            </a:r>
            <a:endParaRPr lang="en-US" sz="1100" dirty="0"/>
          </a:p>
        </p:txBody>
      </p:sp>
      <p:sp>
        <p:nvSpPr>
          <p:cNvPr id="24" name="Shape 22"/>
          <p:cNvSpPr/>
          <p:nvPr/>
        </p:nvSpPr>
        <p:spPr>
          <a:xfrm>
            <a:off x="4846320" y="4297680"/>
            <a:ext cx="3566160" cy="365760"/>
          </a:xfrm>
          <a:prstGeom prst="rect">
            <a:avLst/>
          </a:prstGeom>
          <a:solidFill>
            <a:srgbClr val="EFF6FF"/>
          </a:solidFill>
          <a:ln w="10160">
            <a:solidFill>
              <a:srgbClr val="1E40AF"/>
            </a:solidFill>
            <a:prstDash val="solid"/>
          </a:ln>
        </p:spPr>
      </p:sp>
      <p:sp>
        <p:nvSpPr>
          <p:cNvPr id="25" name="Text 23"/>
          <p:cNvSpPr/>
          <p:nvPr/>
        </p:nvSpPr>
        <p:spPr>
          <a:xfrm>
            <a:off x="4937760" y="4325112"/>
            <a:ext cx="3383280" cy="310896"/>
          </a:xfrm>
          <a:prstGeom prst="rect">
            <a:avLst/>
          </a:prstGeom>
          <a:noFill/>
          <a:ln/>
        </p:spPr>
        <p:txBody>
          <a:bodyPr wrap="square" lIns="0" tIns="0" rIns="0" bIns="0" rtlCol="0" anchor="ctr"/>
          <a:lstStyle/>
          <a:p>
            <a:pPr indent="0" marL="0">
              <a:buNone/>
            </a:pPr>
            <a:r>
              <a:rPr lang="en-US" sz="950" dirty="0">
                <a:solidFill>
                  <a:srgbClr val="1E3A6E"/>
                </a:solidFill>
                <a:latin typeface="Calibri" pitchFamily="34" charset="0"/>
                <a:ea typeface="Calibri" pitchFamily="34" charset="-122"/>
                <a:cs typeface="Calibri" pitchFamily="34" charset="-120"/>
              </a:rPr>
              <a:t>💡  目のアイコンでパスワードの表示/非表示を切替できます</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3A6E"/>
          </a:solidFill>
          <a:ln/>
        </p:spPr>
      </p:sp>
      <p:sp>
        <p:nvSpPr>
          <p:cNvPr id="3" name="Shape 1"/>
          <p:cNvSpPr/>
          <p:nvPr/>
        </p:nvSpPr>
        <p:spPr>
          <a:xfrm>
            <a:off x="0" y="0"/>
            <a:ext cx="164592" cy="658368"/>
          </a:xfrm>
          <a:prstGeom prst="rect">
            <a:avLst/>
          </a:prstGeom>
          <a:solidFill>
            <a:srgbClr val="D97706"/>
          </a:solidFill>
          <a:ln/>
        </p:spPr>
      </p:sp>
      <p:sp>
        <p:nvSpPr>
          <p:cNvPr id="4" name="Text 2"/>
          <p:cNvSpPr/>
          <p:nvPr/>
        </p:nvSpPr>
        <p:spPr>
          <a:xfrm>
            <a:off x="320040" y="0"/>
            <a:ext cx="8686800" cy="65836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11  集計・分析機能</a:t>
            </a:r>
            <a:endParaRPr lang="en-US" sz="2000" dirty="0"/>
          </a:p>
        </p:txBody>
      </p:sp>
      <p:sp>
        <p:nvSpPr>
          <p:cNvPr id="5" name="Text 3"/>
          <p:cNvSpPr/>
          <p:nvPr/>
        </p:nvSpPr>
        <p:spPr>
          <a:xfrm>
            <a:off x="457200" y="768096"/>
            <a:ext cx="8229600" cy="347472"/>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「集計」メニューでは、見積データを期間・顧客・状態別に集計・分析できます。</a:t>
            </a:r>
            <a:endParaRPr lang="en-US" sz="1150" dirty="0"/>
          </a:p>
        </p:txBody>
      </p:sp>
      <p:sp>
        <p:nvSpPr>
          <p:cNvPr id="6" name="Shape 4"/>
          <p:cNvSpPr/>
          <p:nvPr/>
        </p:nvSpPr>
        <p:spPr>
          <a:xfrm>
            <a:off x="411480" y="1207008"/>
            <a:ext cx="5029200" cy="3246120"/>
          </a:xfrm>
          <a:prstGeom prst="rect">
            <a:avLst/>
          </a:prstGeom>
          <a:solidFill>
            <a:srgbClr val="EFF6FF"/>
          </a:solidFill>
          <a:ln w="12700">
            <a:solidFill>
              <a:srgbClr val="CBD5E1"/>
            </a:solidFill>
            <a:prstDash val="solid"/>
          </a:ln>
          <a:effectLst>
            <a:outerShdw sx="100000" sy="100000" kx="0" ky="0" algn="bl" rotWithShape="0" blurRad="76200" dist="25400" dir="8100000">
              <a:srgbClr val="000000">
                <a:alpha val="12000"/>
              </a:srgbClr>
            </a:outerShdw>
          </a:effectLst>
        </p:spPr>
      </p:sp>
      <p:sp>
        <p:nvSpPr>
          <p:cNvPr id="7" name="Shape 5"/>
          <p:cNvSpPr/>
          <p:nvPr/>
        </p:nvSpPr>
        <p:spPr>
          <a:xfrm>
            <a:off x="411480" y="1207008"/>
            <a:ext cx="5029200" cy="347472"/>
          </a:xfrm>
          <a:prstGeom prst="rect">
            <a:avLst/>
          </a:prstGeom>
          <a:solidFill>
            <a:srgbClr val="1E3A6E"/>
          </a:solidFill>
          <a:ln/>
        </p:spPr>
      </p:sp>
      <p:sp>
        <p:nvSpPr>
          <p:cNvPr id="8" name="Text 6"/>
          <p:cNvSpPr/>
          <p:nvPr/>
        </p:nvSpPr>
        <p:spPr>
          <a:xfrm>
            <a:off x="548640" y="1225296"/>
            <a:ext cx="4846320" cy="310896"/>
          </a:xfrm>
          <a:prstGeom prst="rect">
            <a:avLst/>
          </a:prstGeom>
          <a:noFill/>
          <a:ln/>
        </p:spPr>
        <p:txBody>
          <a:bodyPr wrap="square" lIns="0" tIns="0" rIns="0" bIns="0" rtlCol="0" anchor="ctr"/>
          <a:lstStyle/>
          <a:p>
            <a:pPr indent="0" marL="0">
              <a:buNone/>
            </a:pPr>
            <a:r>
              <a:rPr lang="en-US" sz="1100" b="1" dirty="0">
                <a:solidFill>
                  <a:srgbClr val="FFFFFF"/>
                </a:solidFill>
              </a:rPr>
              <a:t>月別・顧客別 集計グラフ</a:t>
            </a:r>
            <a:endParaRPr lang="en-US" sz="1100" dirty="0"/>
          </a:p>
        </p:txBody>
      </p:sp>
      <p:sp>
        <p:nvSpPr>
          <p:cNvPr id="9" name="Shape 7"/>
          <p:cNvSpPr/>
          <p:nvPr/>
        </p:nvSpPr>
        <p:spPr>
          <a:xfrm>
            <a:off x="685800" y="2926080"/>
            <a:ext cx="475488" cy="1280160"/>
          </a:xfrm>
          <a:prstGeom prst="rect">
            <a:avLst/>
          </a:prstGeom>
          <a:solidFill>
            <a:srgbClr val="2563EB">
              <a:alpha val="85000"/>
            </a:srgbClr>
          </a:solidFill>
          <a:ln/>
        </p:spPr>
      </p:sp>
      <p:sp>
        <p:nvSpPr>
          <p:cNvPr id="10" name="Text 8"/>
          <p:cNvSpPr/>
          <p:nvPr/>
        </p:nvSpPr>
        <p:spPr>
          <a:xfrm>
            <a:off x="667512"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1月</a:t>
            </a:r>
            <a:endParaRPr lang="en-US" sz="800" dirty="0"/>
          </a:p>
        </p:txBody>
      </p:sp>
      <p:sp>
        <p:nvSpPr>
          <p:cNvPr id="11" name="Shape 9"/>
          <p:cNvSpPr/>
          <p:nvPr/>
        </p:nvSpPr>
        <p:spPr>
          <a:xfrm>
            <a:off x="1399032" y="2377440"/>
            <a:ext cx="475488" cy="1828800"/>
          </a:xfrm>
          <a:prstGeom prst="rect">
            <a:avLst/>
          </a:prstGeom>
          <a:solidFill>
            <a:srgbClr val="0EA5E9">
              <a:alpha val="85000"/>
            </a:srgbClr>
          </a:solidFill>
          <a:ln/>
        </p:spPr>
      </p:sp>
      <p:sp>
        <p:nvSpPr>
          <p:cNvPr id="12" name="Text 10"/>
          <p:cNvSpPr/>
          <p:nvPr/>
        </p:nvSpPr>
        <p:spPr>
          <a:xfrm>
            <a:off x="1380744"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2月</a:t>
            </a:r>
            <a:endParaRPr lang="en-US" sz="800" dirty="0"/>
          </a:p>
        </p:txBody>
      </p:sp>
      <p:sp>
        <p:nvSpPr>
          <p:cNvPr id="13" name="Shape 11"/>
          <p:cNvSpPr/>
          <p:nvPr/>
        </p:nvSpPr>
        <p:spPr>
          <a:xfrm>
            <a:off x="2112264" y="3200400"/>
            <a:ext cx="475488" cy="1005840"/>
          </a:xfrm>
          <a:prstGeom prst="rect">
            <a:avLst/>
          </a:prstGeom>
          <a:solidFill>
            <a:srgbClr val="2563EB">
              <a:alpha val="85000"/>
            </a:srgbClr>
          </a:solidFill>
          <a:ln/>
        </p:spPr>
      </p:sp>
      <p:sp>
        <p:nvSpPr>
          <p:cNvPr id="14" name="Text 12"/>
          <p:cNvSpPr/>
          <p:nvPr/>
        </p:nvSpPr>
        <p:spPr>
          <a:xfrm>
            <a:off x="2093976"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3月</a:t>
            </a:r>
            <a:endParaRPr lang="en-US" sz="800" dirty="0"/>
          </a:p>
        </p:txBody>
      </p:sp>
      <p:sp>
        <p:nvSpPr>
          <p:cNvPr id="15" name="Shape 13"/>
          <p:cNvSpPr/>
          <p:nvPr/>
        </p:nvSpPr>
        <p:spPr>
          <a:xfrm>
            <a:off x="2825496" y="2011680"/>
            <a:ext cx="475488" cy="2194560"/>
          </a:xfrm>
          <a:prstGeom prst="rect">
            <a:avLst/>
          </a:prstGeom>
          <a:solidFill>
            <a:srgbClr val="059669">
              <a:alpha val="85000"/>
            </a:srgbClr>
          </a:solidFill>
          <a:ln/>
        </p:spPr>
      </p:sp>
      <p:sp>
        <p:nvSpPr>
          <p:cNvPr id="16" name="Text 14"/>
          <p:cNvSpPr/>
          <p:nvPr/>
        </p:nvSpPr>
        <p:spPr>
          <a:xfrm>
            <a:off x="2807208"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4月</a:t>
            </a:r>
            <a:endParaRPr lang="en-US" sz="800" dirty="0"/>
          </a:p>
        </p:txBody>
      </p:sp>
      <p:sp>
        <p:nvSpPr>
          <p:cNvPr id="17" name="Shape 15"/>
          <p:cNvSpPr/>
          <p:nvPr/>
        </p:nvSpPr>
        <p:spPr>
          <a:xfrm>
            <a:off x="3538728" y="2560320"/>
            <a:ext cx="475488" cy="1645920"/>
          </a:xfrm>
          <a:prstGeom prst="rect">
            <a:avLst/>
          </a:prstGeom>
          <a:solidFill>
            <a:srgbClr val="D97706">
              <a:alpha val="85000"/>
            </a:srgbClr>
          </a:solidFill>
          <a:ln/>
        </p:spPr>
      </p:sp>
      <p:sp>
        <p:nvSpPr>
          <p:cNvPr id="18" name="Text 16"/>
          <p:cNvSpPr/>
          <p:nvPr/>
        </p:nvSpPr>
        <p:spPr>
          <a:xfrm>
            <a:off x="3520440"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5月</a:t>
            </a:r>
            <a:endParaRPr lang="en-US" sz="800" dirty="0"/>
          </a:p>
        </p:txBody>
      </p:sp>
      <p:sp>
        <p:nvSpPr>
          <p:cNvPr id="19" name="Shape 17"/>
          <p:cNvSpPr/>
          <p:nvPr/>
        </p:nvSpPr>
        <p:spPr>
          <a:xfrm>
            <a:off x="4251960" y="1645920"/>
            <a:ext cx="475488" cy="2560320"/>
          </a:xfrm>
          <a:prstGeom prst="rect">
            <a:avLst/>
          </a:prstGeom>
          <a:solidFill>
            <a:srgbClr val="2563EB">
              <a:alpha val="85000"/>
            </a:srgbClr>
          </a:solidFill>
          <a:ln/>
        </p:spPr>
      </p:sp>
      <p:sp>
        <p:nvSpPr>
          <p:cNvPr id="20" name="Text 18"/>
          <p:cNvSpPr/>
          <p:nvPr/>
        </p:nvSpPr>
        <p:spPr>
          <a:xfrm>
            <a:off x="4233672" y="4233672"/>
            <a:ext cx="512064" cy="182880"/>
          </a:xfrm>
          <a:prstGeom prst="rect">
            <a:avLst/>
          </a:prstGeom>
          <a:noFill/>
          <a:ln/>
        </p:spPr>
        <p:txBody>
          <a:bodyPr wrap="square" lIns="0" tIns="0" rIns="0" bIns="0" rtlCol="0" anchor="ctr"/>
          <a:lstStyle/>
          <a:p>
            <a:pPr algn="ctr" indent="0" marL="0">
              <a:buNone/>
            </a:pPr>
            <a:r>
              <a:rPr lang="en-US" sz="800" dirty="0">
                <a:solidFill>
                  <a:srgbClr val="64748B"/>
                </a:solidFill>
              </a:rPr>
              <a:t>6月</a:t>
            </a:r>
            <a:endParaRPr lang="en-US" sz="800" dirty="0"/>
          </a:p>
        </p:txBody>
      </p:sp>
      <p:sp>
        <p:nvSpPr>
          <p:cNvPr id="21" name="Shape 19"/>
          <p:cNvSpPr/>
          <p:nvPr/>
        </p:nvSpPr>
        <p:spPr>
          <a:xfrm>
            <a:off x="594360" y="4206240"/>
            <a:ext cx="4663440" cy="27432"/>
          </a:xfrm>
          <a:prstGeom prst="rect">
            <a:avLst/>
          </a:prstGeom>
          <a:solidFill>
            <a:srgbClr val="CBD5E1"/>
          </a:solidFill>
          <a:ln/>
        </p:spPr>
      </p:sp>
      <p:sp>
        <p:nvSpPr>
          <p:cNvPr id="22" name="Shape 20"/>
          <p:cNvSpPr/>
          <p:nvPr/>
        </p:nvSpPr>
        <p:spPr>
          <a:xfrm>
            <a:off x="5715000" y="1207008"/>
            <a:ext cx="3017520" cy="658368"/>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3" name="Shape 21"/>
          <p:cNvSpPr/>
          <p:nvPr/>
        </p:nvSpPr>
        <p:spPr>
          <a:xfrm>
            <a:off x="5715000" y="1207008"/>
            <a:ext cx="54864" cy="658368"/>
          </a:xfrm>
          <a:prstGeom prst="rect">
            <a:avLst/>
          </a:prstGeom>
          <a:solidFill>
            <a:srgbClr val="D97706"/>
          </a:solidFill>
          <a:ln/>
        </p:spPr>
      </p:sp>
      <p:sp>
        <p:nvSpPr>
          <p:cNvPr id="24" name="Text 22"/>
          <p:cNvSpPr/>
          <p:nvPr/>
        </p:nvSpPr>
        <p:spPr>
          <a:xfrm>
            <a:off x="5833872" y="1261872"/>
            <a:ext cx="45720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5" name="Text 23"/>
          <p:cNvSpPr/>
          <p:nvPr/>
        </p:nvSpPr>
        <p:spPr>
          <a:xfrm>
            <a:off x="6382512" y="1261872"/>
            <a:ext cx="2194560" cy="256032"/>
          </a:xfrm>
          <a:prstGeom prst="rect">
            <a:avLst/>
          </a:prstGeom>
          <a:noFill/>
          <a:ln/>
        </p:spPr>
        <p:txBody>
          <a:bodyPr wrap="square" lIns="0" tIns="0" rIns="0" bIns="0" rtlCol="0" anchor="ctr"/>
          <a:lstStyle/>
          <a:p>
            <a:pPr indent="0" marL="0">
              <a:buNone/>
            </a:pPr>
            <a:r>
              <a:rPr lang="en-US" sz="1200" b="1" dirty="0">
                <a:solidFill>
                  <a:srgbClr val="1E3A6E"/>
                </a:solidFill>
                <a:latin typeface="Calibri" pitchFamily="34" charset="0"/>
                <a:ea typeface="Calibri" pitchFamily="34" charset="-122"/>
                <a:cs typeface="Calibri" pitchFamily="34" charset="-120"/>
              </a:rPr>
              <a:t>期間フィルター</a:t>
            </a:r>
            <a:endParaRPr lang="en-US" sz="1200" dirty="0"/>
          </a:p>
        </p:txBody>
      </p:sp>
      <p:sp>
        <p:nvSpPr>
          <p:cNvPr id="26" name="Text 24"/>
          <p:cNvSpPr/>
          <p:nvPr/>
        </p:nvSpPr>
        <p:spPr>
          <a:xfrm>
            <a:off x="6382512" y="1536192"/>
            <a:ext cx="21945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開始日〜終了日で絞り込み</a:t>
            </a:r>
            <a:endParaRPr lang="en-US" sz="950" dirty="0"/>
          </a:p>
        </p:txBody>
      </p:sp>
      <p:sp>
        <p:nvSpPr>
          <p:cNvPr id="27" name="Shape 25"/>
          <p:cNvSpPr/>
          <p:nvPr/>
        </p:nvSpPr>
        <p:spPr>
          <a:xfrm>
            <a:off x="5715000" y="1956816"/>
            <a:ext cx="3017520" cy="658368"/>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5715000" y="1956816"/>
            <a:ext cx="54864" cy="658368"/>
          </a:xfrm>
          <a:prstGeom prst="rect">
            <a:avLst/>
          </a:prstGeom>
          <a:solidFill>
            <a:srgbClr val="D97706"/>
          </a:solidFill>
          <a:ln/>
        </p:spPr>
      </p:sp>
      <p:sp>
        <p:nvSpPr>
          <p:cNvPr id="29" name="Text 27"/>
          <p:cNvSpPr/>
          <p:nvPr/>
        </p:nvSpPr>
        <p:spPr>
          <a:xfrm>
            <a:off x="5833872" y="2011680"/>
            <a:ext cx="45720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ext 28"/>
          <p:cNvSpPr/>
          <p:nvPr/>
        </p:nvSpPr>
        <p:spPr>
          <a:xfrm>
            <a:off x="6382512" y="2011680"/>
            <a:ext cx="2194560" cy="256032"/>
          </a:xfrm>
          <a:prstGeom prst="rect">
            <a:avLst/>
          </a:prstGeom>
          <a:noFill/>
          <a:ln/>
        </p:spPr>
        <p:txBody>
          <a:bodyPr wrap="square" lIns="0" tIns="0" rIns="0" bIns="0" rtlCol="0" anchor="ctr"/>
          <a:lstStyle/>
          <a:p>
            <a:pPr indent="0" marL="0">
              <a:buNone/>
            </a:pPr>
            <a:r>
              <a:rPr lang="en-US" sz="1200" b="1" dirty="0">
                <a:solidFill>
                  <a:srgbClr val="1E3A6E"/>
                </a:solidFill>
                <a:latin typeface="Calibri" pitchFamily="34" charset="0"/>
                <a:ea typeface="Calibri" pitchFamily="34" charset="-122"/>
                <a:cs typeface="Calibri" pitchFamily="34" charset="-120"/>
              </a:rPr>
              <a:t>顧客別集計</a:t>
            </a:r>
            <a:endParaRPr lang="en-US" sz="1200" dirty="0"/>
          </a:p>
        </p:txBody>
      </p:sp>
      <p:sp>
        <p:nvSpPr>
          <p:cNvPr id="31" name="Text 29"/>
          <p:cNvSpPr/>
          <p:nvPr/>
        </p:nvSpPr>
        <p:spPr>
          <a:xfrm>
            <a:off x="6382512" y="2286000"/>
            <a:ext cx="21945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取引先ごとの金額を把握</a:t>
            </a:r>
            <a:endParaRPr lang="en-US" sz="950" dirty="0"/>
          </a:p>
        </p:txBody>
      </p:sp>
      <p:sp>
        <p:nvSpPr>
          <p:cNvPr id="32" name="Shape 30"/>
          <p:cNvSpPr/>
          <p:nvPr/>
        </p:nvSpPr>
        <p:spPr>
          <a:xfrm>
            <a:off x="5715000" y="2706624"/>
            <a:ext cx="3017520" cy="658368"/>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3" name="Shape 31"/>
          <p:cNvSpPr/>
          <p:nvPr/>
        </p:nvSpPr>
        <p:spPr>
          <a:xfrm>
            <a:off x="5715000" y="2706624"/>
            <a:ext cx="54864" cy="658368"/>
          </a:xfrm>
          <a:prstGeom prst="rect">
            <a:avLst/>
          </a:prstGeom>
          <a:solidFill>
            <a:srgbClr val="D97706"/>
          </a:solidFill>
          <a:ln/>
        </p:spPr>
      </p:sp>
      <p:sp>
        <p:nvSpPr>
          <p:cNvPr id="34" name="Text 32"/>
          <p:cNvSpPr/>
          <p:nvPr/>
        </p:nvSpPr>
        <p:spPr>
          <a:xfrm>
            <a:off x="5833872" y="2761488"/>
            <a:ext cx="45720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5" name="Text 33"/>
          <p:cNvSpPr/>
          <p:nvPr/>
        </p:nvSpPr>
        <p:spPr>
          <a:xfrm>
            <a:off x="6382512" y="2761488"/>
            <a:ext cx="2194560" cy="256032"/>
          </a:xfrm>
          <a:prstGeom prst="rect">
            <a:avLst/>
          </a:prstGeom>
          <a:noFill/>
          <a:ln/>
        </p:spPr>
        <p:txBody>
          <a:bodyPr wrap="square" lIns="0" tIns="0" rIns="0" bIns="0" rtlCol="0" anchor="ctr"/>
          <a:lstStyle/>
          <a:p>
            <a:pPr indent="0" marL="0">
              <a:buNone/>
            </a:pPr>
            <a:r>
              <a:rPr lang="en-US" sz="1200" b="1" dirty="0">
                <a:solidFill>
                  <a:srgbClr val="1E3A6E"/>
                </a:solidFill>
                <a:latin typeface="Calibri" pitchFamily="34" charset="0"/>
                <a:ea typeface="Calibri" pitchFamily="34" charset="-122"/>
                <a:cs typeface="Calibri" pitchFamily="34" charset="-120"/>
              </a:rPr>
              <a:t>ステータス別</a:t>
            </a:r>
            <a:endParaRPr lang="en-US" sz="1200" dirty="0"/>
          </a:p>
        </p:txBody>
      </p:sp>
      <p:sp>
        <p:nvSpPr>
          <p:cNvPr id="36" name="Text 34"/>
          <p:cNvSpPr/>
          <p:nvPr/>
        </p:nvSpPr>
        <p:spPr>
          <a:xfrm>
            <a:off x="6382512" y="3035808"/>
            <a:ext cx="21945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申請中・承認済・差戻しで分類</a:t>
            </a:r>
            <a:endParaRPr lang="en-US" sz="950" dirty="0"/>
          </a:p>
        </p:txBody>
      </p:sp>
      <p:sp>
        <p:nvSpPr>
          <p:cNvPr id="37" name="Shape 35"/>
          <p:cNvSpPr/>
          <p:nvPr/>
        </p:nvSpPr>
        <p:spPr>
          <a:xfrm>
            <a:off x="5715000" y="3456432"/>
            <a:ext cx="3017520" cy="658368"/>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38" name="Shape 36"/>
          <p:cNvSpPr/>
          <p:nvPr/>
        </p:nvSpPr>
        <p:spPr>
          <a:xfrm>
            <a:off x="5715000" y="3456432"/>
            <a:ext cx="54864" cy="658368"/>
          </a:xfrm>
          <a:prstGeom prst="rect">
            <a:avLst/>
          </a:prstGeom>
          <a:solidFill>
            <a:srgbClr val="D97706"/>
          </a:solidFill>
          <a:ln/>
        </p:spPr>
      </p:sp>
      <p:sp>
        <p:nvSpPr>
          <p:cNvPr id="39" name="Text 37"/>
          <p:cNvSpPr/>
          <p:nvPr/>
        </p:nvSpPr>
        <p:spPr>
          <a:xfrm>
            <a:off x="5833872" y="3511296"/>
            <a:ext cx="45720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0" name="Text 38"/>
          <p:cNvSpPr/>
          <p:nvPr/>
        </p:nvSpPr>
        <p:spPr>
          <a:xfrm>
            <a:off x="6382512" y="3511296"/>
            <a:ext cx="2194560" cy="256032"/>
          </a:xfrm>
          <a:prstGeom prst="rect">
            <a:avLst/>
          </a:prstGeom>
          <a:noFill/>
          <a:ln/>
        </p:spPr>
        <p:txBody>
          <a:bodyPr wrap="square" lIns="0" tIns="0" rIns="0" bIns="0" rtlCol="0" anchor="ctr"/>
          <a:lstStyle/>
          <a:p>
            <a:pPr indent="0" marL="0">
              <a:buNone/>
            </a:pPr>
            <a:r>
              <a:rPr lang="en-US" sz="1200" b="1" dirty="0">
                <a:solidFill>
                  <a:srgbClr val="1E3A6E"/>
                </a:solidFill>
                <a:latin typeface="Calibri" pitchFamily="34" charset="0"/>
                <a:ea typeface="Calibri" pitchFamily="34" charset="-122"/>
                <a:cs typeface="Calibri" pitchFamily="34" charset="-120"/>
              </a:rPr>
              <a:t>合計金額表示</a:t>
            </a:r>
            <a:endParaRPr lang="en-US" sz="1200" dirty="0"/>
          </a:p>
        </p:txBody>
      </p:sp>
      <p:sp>
        <p:nvSpPr>
          <p:cNvPr id="41" name="Text 39"/>
          <p:cNvSpPr/>
          <p:nvPr/>
        </p:nvSpPr>
        <p:spPr>
          <a:xfrm>
            <a:off x="6382512" y="3785616"/>
            <a:ext cx="21945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期間合計・平均金額を表示</a:t>
            </a:r>
            <a:endParaRPr lang="en-US" sz="950" dirty="0"/>
          </a:p>
        </p:txBody>
      </p:sp>
      <p:sp>
        <p:nvSpPr>
          <p:cNvPr id="42" name="Shape 40"/>
          <p:cNvSpPr/>
          <p:nvPr/>
        </p:nvSpPr>
        <p:spPr>
          <a:xfrm>
            <a:off x="5715000" y="4206240"/>
            <a:ext cx="3017520" cy="658368"/>
          </a:xfrm>
          <a:prstGeom prst="rect">
            <a:avLst/>
          </a:prstGeom>
          <a:solidFill>
            <a:srgbClr val="FFFFFF"/>
          </a:solidFill>
          <a:ln w="10160">
            <a:solidFill>
              <a:srgbClr val="CBD5E1"/>
            </a:solidFill>
            <a:prstDash val="solid"/>
          </a:ln>
          <a:effectLst>
            <a:outerShdw sx="100000" sy="100000" kx="0" ky="0" algn="bl" rotWithShape="0" blurRad="76200" dist="25400" dir="8100000">
              <a:srgbClr val="000000">
                <a:alpha val="12000"/>
              </a:srgbClr>
            </a:outerShdw>
          </a:effectLst>
        </p:spPr>
      </p:sp>
      <p:sp>
        <p:nvSpPr>
          <p:cNvPr id="43" name="Shape 41"/>
          <p:cNvSpPr/>
          <p:nvPr/>
        </p:nvSpPr>
        <p:spPr>
          <a:xfrm>
            <a:off x="5715000" y="4206240"/>
            <a:ext cx="54864" cy="658368"/>
          </a:xfrm>
          <a:prstGeom prst="rect">
            <a:avLst/>
          </a:prstGeom>
          <a:solidFill>
            <a:srgbClr val="D97706"/>
          </a:solidFill>
          <a:ln/>
        </p:spPr>
      </p:sp>
      <p:sp>
        <p:nvSpPr>
          <p:cNvPr id="44" name="Text 42"/>
          <p:cNvSpPr/>
          <p:nvPr/>
        </p:nvSpPr>
        <p:spPr>
          <a:xfrm>
            <a:off x="5833872" y="4261104"/>
            <a:ext cx="45720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5" name="Text 43"/>
          <p:cNvSpPr/>
          <p:nvPr/>
        </p:nvSpPr>
        <p:spPr>
          <a:xfrm>
            <a:off x="6382512" y="4261104"/>
            <a:ext cx="2194560" cy="256032"/>
          </a:xfrm>
          <a:prstGeom prst="rect">
            <a:avLst/>
          </a:prstGeom>
          <a:noFill/>
          <a:ln/>
        </p:spPr>
        <p:txBody>
          <a:bodyPr wrap="square" lIns="0" tIns="0" rIns="0" bIns="0" rtlCol="0" anchor="ctr"/>
          <a:lstStyle/>
          <a:p>
            <a:pPr indent="0" marL="0">
              <a:buNone/>
            </a:pPr>
            <a:r>
              <a:rPr lang="en-US" sz="1200" b="1" dirty="0">
                <a:solidFill>
                  <a:srgbClr val="1E3A6E"/>
                </a:solidFill>
                <a:latin typeface="Calibri" pitchFamily="34" charset="0"/>
                <a:ea typeface="Calibri" pitchFamily="34" charset="-122"/>
                <a:cs typeface="Calibri" pitchFamily="34" charset="-120"/>
              </a:rPr>
              <a:t>データ出力</a:t>
            </a:r>
            <a:endParaRPr lang="en-US" sz="1200" dirty="0"/>
          </a:p>
        </p:txBody>
      </p:sp>
      <p:sp>
        <p:nvSpPr>
          <p:cNvPr id="46" name="Text 44"/>
          <p:cNvSpPr/>
          <p:nvPr/>
        </p:nvSpPr>
        <p:spPr>
          <a:xfrm>
            <a:off x="6382512" y="4535424"/>
            <a:ext cx="2194560" cy="256032"/>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集計データのエクスポート</a:t>
            </a:r>
            <a:endParaRPr lang="en-US" sz="950" dirty="0"/>
          </a:p>
        </p:txBody>
      </p:sp>
      <p:sp>
        <p:nvSpPr>
          <p:cNvPr id="47" name="Shape 45"/>
          <p:cNvSpPr/>
          <p:nvPr/>
        </p:nvSpPr>
        <p:spPr>
          <a:xfrm>
            <a:off x="411480" y="4636008"/>
            <a:ext cx="8321040" cy="530352"/>
          </a:xfrm>
          <a:prstGeom prst="rect">
            <a:avLst/>
          </a:prstGeom>
          <a:solidFill>
            <a:srgbClr val="EFF6FF"/>
          </a:solidFill>
          <a:ln w="12700">
            <a:solidFill>
              <a:srgbClr val="D97706"/>
            </a:solidFill>
            <a:prstDash val="solid"/>
          </a:ln>
        </p:spPr>
      </p:sp>
      <p:sp>
        <p:nvSpPr>
          <p:cNvPr id="48" name="Text 46"/>
          <p:cNvSpPr/>
          <p:nvPr/>
        </p:nvSpPr>
        <p:spPr>
          <a:xfrm>
            <a:off x="521208" y="4672584"/>
            <a:ext cx="8138160" cy="457200"/>
          </a:xfrm>
          <a:prstGeom prst="rect">
            <a:avLst/>
          </a:prstGeom>
          <a:noFill/>
          <a:ln/>
        </p:spPr>
        <p:txBody>
          <a:bodyPr wrap="square" lIns="0" tIns="0" rIns="0" bIns="0" rtlCol="0" anchor="ctr"/>
          <a:lstStyle/>
          <a:p>
            <a:pPr indent="0" marL="0">
              <a:buNone/>
            </a:pPr>
            <a:r>
              <a:rPr lang="en-US" sz="1050" dirty="0">
                <a:solidFill>
                  <a:srgbClr val="1E3A6E"/>
                </a:solidFill>
                <a:latin typeface="Calibri" pitchFamily="34" charset="0"/>
                <a:ea typeface="Calibri" pitchFamily="34" charset="-122"/>
                <a:cs typeface="Calibri" pitchFamily="34" charset="-120"/>
              </a:rPr>
              <a:t>💡  集計機能は全ユーザーが利用できます。自分が作成した見積のデータを確認するのに便利です。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10X RFQ 使い方ガイド</dc:title>
  <dc:subject>PptxGenJS Presentation</dc:subject>
  <dc:creator>PptxGenJS</dc:creator>
  <cp:lastModifiedBy>PptxGenJS</cp:lastModifiedBy>
  <cp:revision>1</cp:revision>
  <dcterms:created xsi:type="dcterms:W3CDTF">2026-04-29T23:57:31Z</dcterms:created>
  <dcterms:modified xsi:type="dcterms:W3CDTF">2026-04-29T23:57:31Z</dcterms:modified>
</cp:coreProperties>
</file>